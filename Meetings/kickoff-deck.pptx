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Lato"/>
      <p:regular r:id="rId17"/>
      <p:bold r:id="rId18"/>
      <p:italic r:id="rId19"/>
      <p:boldItalic r:id="rId20"/>
    </p:embeddedFont>
    <p:embeddedFont>
      <p:font typeface="Poppi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11" Type="http://schemas.openxmlformats.org/officeDocument/2006/relationships/slide" Target="slides/slide7.xml"/><Relationship Id="rId22" Type="http://schemas.openxmlformats.org/officeDocument/2006/relationships/font" Target="fonts/Poppins-bold.fntdata"/><Relationship Id="rId10" Type="http://schemas.openxmlformats.org/officeDocument/2006/relationships/slide" Target="slides/slide6.xml"/><Relationship Id="rId21" Type="http://schemas.openxmlformats.org/officeDocument/2006/relationships/font" Target="fonts/Poppins-regular.fntdata"/><Relationship Id="rId13" Type="http://schemas.openxmlformats.org/officeDocument/2006/relationships/slide" Target="slides/slide9.xml"/><Relationship Id="rId24" Type="http://schemas.openxmlformats.org/officeDocument/2006/relationships/font" Target="fonts/Poppins-boldItalic.fntdata"/><Relationship Id="rId12" Type="http://schemas.openxmlformats.org/officeDocument/2006/relationships/slide" Target="slides/slide8.xml"/><Relationship Id="rId23"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ato-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Lato-italic.fntdata"/><Relationship Id="rId6" Type="http://schemas.openxmlformats.org/officeDocument/2006/relationships/slide" Target="slides/slide2.xml"/><Relationship Id="rId18" Type="http://schemas.openxmlformats.org/officeDocument/2006/relationships/font" Target="fonts/Lato-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628"/>
        </a:solidFill>
      </p:bgPr>
    </p:bg>
    <p:spTree>
      <p:nvGrpSpPr>
        <p:cNvPr id="15" name="Shape 15"/>
        <p:cNvGrpSpPr/>
        <p:nvPr/>
      </p:nvGrpSpPr>
      <p:grpSpPr>
        <a:xfrm>
          <a:off x="0" y="0"/>
          <a:ext cx="0" cy="0"/>
          <a:chOff x="0" y="0"/>
          <a:chExt cx="0" cy="0"/>
        </a:xfrm>
      </p:grpSpPr>
      <p:sp>
        <p:nvSpPr>
          <p:cNvPr id="16" name="Google Shape;16;p3"/>
          <p:cNvSpPr/>
          <p:nvPr/>
        </p:nvSpPr>
        <p:spPr>
          <a:xfrm>
            <a:off x="457200" y="128016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900"/>
              <a:buFont typeface="Calibri"/>
              <a:buNone/>
            </a:pPr>
            <a:r>
              <a:rPr b="1" i="0" lang="en-US" sz="900" u="none" cap="none" strike="noStrike">
                <a:solidFill>
                  <a:srgbClr val="7B5EA7"/>
                </a:solidFill>
                <a:latin typeface="Lato"/>
                <a:ea typeface="Lato"/>
                <a:cs typeface="Lato"/>
                <a:sym typeface="Lato"/>
              </a:rPr>
              <a:t>HUBSPOT ONBOARDING KICKOFF</a:t>
            </a:r>
            <a:endParaRPr i="0" sz="900" u="none" cap="none" strike="noStrike">
              <a:solidFill>
                <a:schemeClr val="dk1"/>
              </a:solidFill>
              <a:latin typeface="Lato"/>
              <a:ea typeface="Lato"/>
              <a:cs typeface="Lato"/>
              <a:sym typeface="Lato"/>
            </a:endParaRPr>
          </a:p>
        </p:txBody>
      </p:sp>
      <p:sp>
        <p:nvSpPr>
          <p:cNvPr id="17" name="Google Shape;17;p3"/>
          <p:cNvSpPr/>
          <p:nvPr/>
        </p:nvSpPr>
        <p:spPr>
          <a:xfrm>
            <a:off x="457200" y="1600200"/>
            <a:ext cx="6400800" cy="1280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400"/>
              <a:buFont typeface="Calibri"/>
              <a:buNone/>
            </a:pPr>
            <a:r>
              <a:rPr b="1" i="0" lang="en-US" sz="5400" u="none" cap="none" strike="noStrike">
                <a:solidFill>
                  <a:srgbClr val="FFFFFF"/>
                </a:solidFill>
                <a:latin typeface="Lato"/>
                <a:ea typeface="Lato"/>
                <a:cs typeface="Lato"/>
                <a:sym typeface="Lato"/>
              </a:rPr>
              <a:t>TBA Firefly</a:t>
            </a:r>
            <a:endParaRPr i="0" sz="5400" u="none" cap="none" strike="noStrike">
              <a:solidFill>
                <a:schemeClr val="dk1"/>
              </a:solidFill>
              <a:latin typeface="Lato"/>
              <a:ea typeface="Lato"/>
              <a:cs typeface="Lato"/>
              <a:sym typeface="Lato"/>
            </a:endParaRPr>
          </a:p>
        </p:txBody>
      </p:sp>
      <p:sp>
        <p:nvSpPr>
          <p:cNvPr id="18" name="Google Shape;18;p3"/>
          <p:cNvSpPr/>
          <p:nvPr/>
        </p:nvSpPr>
        <p:spPr>
          <a:xfrm>
            <a:off x="457200" y="28346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600"/>
              <a:buFont typeface="Calibri"/>
              <a:buNone/>
            </a:pPr>
            <a:r>
              <a:rPr i="0" lang="en-US" sz="1600" u="none" cap="none" strike="noStrike">
                <a:solidFill>
                  <a:schemeClr val="lt1"/>
                </a:solidFill>
                <a:latin typeface="Lato"/>
                <a:ea typeface="Lato"/>
                <a:cs typeface="Lato"/>
                <a:sym typeface="Lato"/>
              </a:rPr>
              <a:t>Presented by Bound</a:t>
            </a:r>
            <a:endParaRPr i="0" sz="1600" u="none" cap="none" strike="noStrike">
              <a:solidFill>
                <a:schemeClr val="lt1"/>
              </a:solidFill>
              <a:latin typeface="Lato"/>
              <a:ea typeface="Lato"/>
              <a:cs typeface="Lato"/>
              <a:sym typeface="Lato"/>
            </a:endParaRPr>
          </a:p>
        </p:txBody>
      </p:sp>
      <p:cxnSp>
        <p:nvCxnSpPr>
          <p:cNvPr id="19" name="Google Shape;19;p3"/>
          <p:cNvCxnSpPr/>
          <p:nvPr/>
        </p:nvCxnSpPr>
        <p:spPr>
          <a:xfrm>
            <a:off x="457200" y="3291840"/>
            <a:ext cx="2286000" cy="0"/>
          </a:xfrm>
          <a:prstGeom prst="straightConnector1">
            <a:avLst/>
          </a:prstGeom>
          <a:noFill/>
          <a:ln cap="flat" cmpd="sng" w="19050">
            <a:solidFill>
              <a:srgbClr val="7B5EA7"/>
            </a:solidFill>
            <a:prstDash val="solid"/>
            <a:round/>
            <a:headEnd len="sm" w="sm" type="none"/>
            <a:tailEnd len="sm" w="sm" type="none"/>
          </a:ln>
        </p:spPr>
      </p:cxnSp>
      <p:sp>
        <p:nvSpPr>
          <p:cNvPr id="20" name="Google Shape;20;p3"/>
          <p:cNvSpPr/>
          <p:nvPr/>
        </p:nvSpPr>
        <p:spPr>
          <a:xfrm>
            <a:off x="457200" y="356616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1300"/>
              <a:buFont typeface="Calibri"/>
              <a:buNone/>
            </a:pPr>
            <a:r>
              <a:rPr i="0" lang="en-US" sz="1300" u="none" cap="none" strike="noStrike">
                <a:solidFill>
                  <a:schemeClr val="lt1"/>
                </a:solidFill>
                <a:latin typeface="Lato"/>
                <a:ea typeface="Lato"/>
                <a:cs typeface="Lato"/>
                <a:sym typeface="Lato"/>
              </a:rPr>
              <a:t>What to expect from Bound </a:t>
            </a:r>
            <a:r>
              <a:rPr lang="en-US" sz="1300">
                <a:solidFill>
                  <a:schemeClr val="lt1"/>
                </a:solidFill>
                <a:latin typeface="Lato"/>
                <a:ea typeface="Lato"/>
                <a:cs typeface="Lato"/>
                <a:sym typeface="Lato"/>
              </a:rPr>
              <a:t>-</a:t>
            </a:r>
            <a:r>
              <a:rPr i="0" lang="en-US" sz="1300" u="none" cap="none" strike="noStrike">
                <a:solidFill>
                  <a:schemeClr val="lt1"/>
                </a:solidFill>
                <a:latin typeface="Lato"/>
                <a:ea typeface="Lato"/>
                <a:cs typeface="Lato"/>
                <a:sym typeface="Lato"/>
              </a:rPr>
              <a:t> and what we will build together</a:t>
            </a:r>
            <a:endParaRPr i="0" sz="1300" u="none" cap="none" strike="noStrike">
              <a:solidFill>
                <a:schemeClr val="lt1"/>
              </a:solidFill>
              <a:latin typeface="Lato"/>
              <a:ea typeface="Lato"/>
              <a:cs typeface="Lato"/>
              <a:sym typeface="Lato"/>
            </a:endParaRPr>
          </a:p>
        </p:txBody>
      </p:sp>
      <p:sp>
        <p:nvSpPr>
          <p:cNvPr id="21" name="Google Shape;21;p3"/>
          <p:cNvSpPr/>
          <p:nvPr/>
        </p:nvSpPr>
        <p:spPr>
          <a:xfrm>
            <a:off x="7000875" y="-952500"/>
            <a:ext cx="2857500" cy="2857500"/>
          </a:xfrm>
          <a:prstGeom prst="ellipse">
            <a:avLst/>
          </a:prstGeom>
          <a:solidFill>
            <a:srgbClr val="5B50D6">
              <a:alpha val="1804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 name="Google Shape;22;p3"/>
          <p:cNvSpPr/>
          <p:nvPr/>
        </p:nvSpPr>
        <p:spPr>
          <a:xfrm>
            <a:off x="-476250" y="3714750"/>
            <a:ext cx="1905000" cy="1905000"/>
          </a:xfrm>
          <a:prstGeom prst="ellipse">
            <a:avLst/>
          </a:prstGeom>
          <a:solidFill>
            <a:srgbClr val="5B50D6">
              <a:alpha val="102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23" name="Google Shape;23;p3"/>
          <p:cNvPicPr preferRelativeResize="0"/>
          <p:nvPr/>
        </p:nvPicPr>
        <p:blipFill>
          <a:blip r:embed="rId3">
            <a:alphaModFix/>
          </a:blip>
          <a:stretch>
            <a:fillRect/>
          </a:stretch>
        </p:blipFill>
        <p:spPr>
          <a:xfrm>
            <a:off x="7952283" y="261398"/>
            <a:ext cx="899670" cy="365400"/>
          </a:xfrm>
          <a:prstGeom prst="rect">
            <a:avLst/>
          </a:prstGeom>
          <a:noFill/>
          <a:ln>
            <a:noFill/>
          </a:ln>
        </p:spPr>
      </p:pic>
      <p:sp>
        <p:nvSpPr>
          <p:cNvPr id="24" name="Google Shape;24;p3"/>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25" name="Google Shape;25;p3"/>
          <p:cNvCxnSpPr>
            <a:endCxn id="24"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26" name="Google Shape;26;p3"/>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2040"/>
        </a:solidFill>
      </p:bgPr>
    </p:bg>
    <p:spTree>
      <p:nvGrpSpPr>
        <p:cNvPr id="31" name="Shape 31"/>
        <p:cNvGrpSpPr/>
        <p:nvPr/>
      </p:nvGrpSpPr>
      <p:grpSpPr>
        <a:xfrm>
          <a:off x="0" y="0"/>
          <a:ext cx="0" cy="0"/>
          <a:chOff x="0" y="0"/>
          <a:chExt cx="0" cy="0"/>
        </a:xfrm>
      </p:grpSpPr>
      <p:sp>
        <p:nvSpPr>
          <p:cNvPr id="32" name="Google Shape;32;p4"/>
          <p:cNvSpPr/>
          <p:nvPr/>
        </p:nvSpPr>
        <p:spPr>
          <a:xfrm>
            <a:off x="457200" y="320040"/>
            <a:ext cx="822960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Lato"/>
                <a:ea typeface="Lato"/>
                <a:cs typeface="Lato"/>
                <a:sym typeface="Lato"/>
              </a:rPr>
              <a:t>Today's Agenda</a:t>
            </a:r>
            <a:endParaRPr i="0" sz="3200" u="none" cap="none" strike="noStrike">
              <a:solidFill>
                <a:schemeClr val="dk1"/>
              </a:solidFill>
              <a:latin typeface="Lato"/>
              <a:ea typeface="Lato"/>
              <a:cs typeface="Lato"/>
              <a:sym typeface="Lato"/>
            </a:endParaRPr>
          </a:p>
        </p:txBody>
      </p:sp>
      <p:sp>
        <p:nvSpPr>
          <p:cNvPr id="33" name="Google Shape;33;p4"/>
          <p:cNvSpPr/>
          <p:nvPr/>
        </p:nvSpPr>
        <p:spPr>
          <a:xfrm>
            <a:off x="457200" y="960120"/>
            <a:ext cx="8229600" cy="402336"/>
          </a:xfrm>
          <a:prstGeom prst="roundRect">
            <a:avLst>
              <a:gd fmla="val 18182"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566928" y="1033272"/>
            <a:ext cx="365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Calibri"/>
                <a:ea typeface="Calibri"/>
                <a:cs typeface="Calibri"/>
                <a:sym typeface="Calibri"/>
              </a:rPr>
              <a:t>01</a:t>
            </a:r>
            <a:endParaRPr b="0" i="0" sz="1100" u="none" cap="none" strike="noStrike">
              <a:solidFill>
                <a:schemeClr val="dk1"/>
              </a:solidFill>
              <a:latin typeface="Calibri"/>
              <a:ea typeface="Calibri"/>
              <a:cs typeface="Calibri"/>
              <a:sym typeface="Calibri"/>
            </a:endParaRPr>
          </a:p>
        </p:txBody>
      </p:sp>
      <p:sp>
        <p:nvSpPr>
          <p:cNvPr id="35" name="Google Shape;35;p4"/>
          <p:cNvSpPr/>
          <p:nvPr/>
        </p:nvSpPr>
        <p:spPr>
          <a:xfrm>
            <a:off x="1005840" y="1033272"/>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300"/>
              <a:buFont typeface="Calibri"/>
              <a:buNone/>
            </a:pPr>
            <a:r>
              <a:rPr i="0" lang="en-US" sz="1300" u="none" cap="none" strike="noStrike">
                <a:solidFill>
                  <a:schemeClr val="lt1"/>
                </a:solidFill>
                <a:latin typeface="Lato"/>
                <a:ea typeface="Lato"/>
                <a:cs typeface="Lato"/>
                <a:sym typeface="Lato"/>
              </a:rPr>
              <a:t>Meet Your Core Bound Team</a:t>
            </a:r>
            <a:endParaRPr i="0" sz="1300" u="none" cap="none" strike="noStrike">
              <a:solidFill>
                <a:schemeClr val="lt1"/>
              </a:solidFill>
              <a:latin typeface="Lato"/>
              <a:ea typeface="Lato"/>
              <a:cs typeface="Lato"/>
              <a:sym typeface="Lato"/>
            </a:endParaRPr>
          </a:p>
        </p:txBody>
      </p:sp>
      <p:sp>
        <p:nvSpPr>
          <p:cNvPr id="36" name="Google Shape;36;p4"/>
          <p:cNvSpPr/>
          <p:nvPr/>
        </p:nvSpPr>
        <p:spPr>
          <a:xfrm>
            <a:off x="457200" y="1435608"/>
            <a:ext cx="8229600" cy="402336"/>
          </a:xfrm>
          <a:prstGeom prst="roundRect">
            <a:avLst>
              <a:gd fmla="val 18182"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566928" y="1508760"/>
            <a:ext cx="365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Calibri"/>
                <a:ea typeface="Calibri"/>
                <a:cs typeface="Calibri"/>
                <a:sym typeface="Calibri"/>
              </a:rPr>
              <a:t>02</a:t>
            </a:r>
            <a:endParaRPr b="0" i="0" sz="1100" u="none" cap="none" strike="noStrike">
              <a:solidFill>
                <a:schemeClr val="dk1"/>
              </a:solidFill>
              <a:latin typeface="Calibri"/>
              <a:ea typeface="Calibri"/>
              <a:cs typeface="Calibri"/>
              <a:sym typeface="Calibri"/>
            </a:endParaRPr>
          </a:p>
        </p:txBody>
      </p:sp>
      <p:sp>
        <p:nvSpPr>
          <p:cNvPr id="38" name="Google Shape;38;p4"/>
          <p:cNvSpPr/>
          <p:nvPr/>
        </p:nvSpPr>
        <p:spPr>
          <a:xfrm>
            <a:off x="1005840" y="1508760"/>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300"/>
              <a:buFont typeface="Calibri"/>
              <a:buNone/>
            </a:pPr>
            <a:r>
              <a:rPr i="0" lang="en-US" sz="1300" u="none" cap="none" strike="noStrike">
                <a:solidFill>
                  <a:schemeClr val="lt1"/>
                </a:solidFill>
                <a:latin typeface="Lato"/>
                <a:ea typeface="Lato"/>
                <a:cs typeface="Lato"/>
                <a:sym typeface="Lato"/>
              </a:rPr>
              <a:t>Why We're Here </a:t>
            </a:r>
            <a:r>
              <a:rPr lang="en-US" sz="1300">
                <a:solidFill>
                  <a:schemeClr val="lt1"/>
                </a:solidFill>
                <a:latin typeface="Lato"/>
                <a:ea typeface="Lato"/>
                <a:cs typeface="Lato"/>
                <a:sym typeface="Lato"/>
              </a:rPr>
              <a:t>-</a:t>
            </a:r>
            <a:r>
              <a:rPr i="0" lang="en-US" sz="1300" u="none" cap="none" strike="noStrike">
                <a:solidFill>
                  <a:schemeClr val="lt1"/>
                </a:solidFill>
                <a:latin typeface="Lato"/>
                <a:ea typeface="Lato"/>
                <a:cs typeface="Lato"/>
                <a:sym typeface="Lato"/>
              </a:rPr>
              <a:t> Recap &amp; Problem Framing</a:t>
            </a:r>
            <a:endParaRPr i="0" sz="1300" u="none" cap="none" strike="noStrike">
              <a:solidFill>
                <a:schemeClr val="lt1"/>
              </a:solidFill>
              <a:latin typeface="Lato"/>
              <a:ea typeface="Lato"/>
              <a:cs typeface="Lato"/>
              <a:sym typeface="Lato"/>
            </a:endParaRPr>
          </a:p>
        </p:txBody>
      </p:sp>
      <p:sp>
        <p:nvSpPr>
          <p:cNvPr id="39" name="Google Shape;39;p4"/>
          <p:cNvSpPr/>
          <p:nvPr/>
        </p:nvSpPr>
        <p:spPr>
          <a:xfrm>
            <a:off x="457200" y="1911096"/>
            <a:ext cx="8229600" cy="402336"/>
          </a:xfrm>
          <a:prstGeom prst="roundRect">
            <a:avLst>
              <a:gd fmla="val 18182"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566928" y="1984248"/>
            <a:ext cx="365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Calibri"/>
                <a:ea typeface="Calibri"/>
                <a:cs typeface="Calibri"/>
                <a:sym typeface="Calibri"/>
              </a:rPr>
              <a:t>03</a:t>
            </a:r>
            <a:endParaRPr b="0" i="0" sz="1100" u="none" cap="none" strike="noStrike">
              <a:solidFill>
                <a:schemeClr val="dk1"/>
              </a:solidFill>
              <a:latin typeface="Calibri"/>
              <a:ea typeface="Calibri"/>
              <a:cs typeface="Calibri"/>
              <a:sym typeface="Calibri"/>
            </a:endParaRPr>
          </a:p>
        </p:txBody>
      </p:sp>
      <p:sp>
        <p:nvSpPr>
          <p:cNvPr id="41" name="Google Shape;41;p4"/>
          <p:cNvSpPr/>
          <p:nvPr/>
        </p:nvSpPr>
        <p:spPr>
          <a:xfrm>
            <a:off x="1005840" y="1984248"/>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300"/>
              <a:buFont typeface="Calibri"/>
              <a:buNone/>
            </a:pPr>
            <a:r>
              <a:rPr i="0" lang="en-US" sz="1300" u="none" cap="none" strike="noStrike">
                <a:solidFill>
                  <a:schemeClr val="lt1"/>
                </a:solidFill>
                <a:latin typeface="Lato"/>
                <a:ea typeface="Lato"/>
                <a:cs typeface="Lato"/>
                <a:sym typeface="Lato"/>
              </a:rPr>
              <a:t>Scope of Work Overview</a:t>
            </a:r>
            <a:endParaRPr i="0" sz="1300" u="none" cap="none" strike="noStrike">
              <a:solidFill>
                <a:schemeClr val="lt1"/>
              </a:solidFill>
              <a:latin typeface="Lato"/>
              <a:ea typeface="Lato"/>
              <a:cs typeface="Lato"/>
              <a:sym typeface="Lato"/>
            </a:endParaRPr>
          </a:p>
        </p:txBody>
      </p:sp>
      <p:sp>
        <p:nvSpPr>
          <p:cNvPr id="42" name="Google Shape;42;p4"/>
          <p:cNvSpPr/>
          <p:nvPr/>
        </p:nvSpPr>
        <p:spPr>
          <a:xfrm>
            <a:off x="457200" y="2386584"/>
            <a:ext cx="8229600" cy="402336"/>
          </a:xfrm>
          <a:prstGeom prst="roundRect">
            <a:avLst>
              <a:gd fmla="val 18182"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566928" y="2459736"/>
            <a:ext cx="365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Calibri"/>
                <a:ea typeface="Calibri"/>
                <a:cs typeface="Calibri"/>
                <a:sym typeface="Calibri"/>
              </a:rPr>
              <a:t>04</a:t>
            </a:r>
            <a:endParaRPr b="0" i="0" sz="1100" u="none" cap="none" strike="noStrike">
              <a:solidFill>
                <a:schemeClr val="dk1"/>
              </a:solidFill>
              <a:latin typeface="Calibri"/>
              <a:ea typeface="Calibri"/>
              <a:cs typeface="Calibri"/>
              <a:sym typeface="Calibri"/>
            </a:endParaRPr>
          </a:p>
        </p:txBody>
      </p:sp>
      <p:sp>
        <p:nvSpPr>
          <p:cNvPr id="44" name="Google Shape;44;p4"/>
          <p:cNvSpPr/>
          <p:nvPr/>
        </p:nvSpPr>
        <p:spPr>
          <a:xfrm>
            <a:off x="1005840" y="2459736"/>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300"/>
              <a:buFont typeface="Calibri"/>
              <a:buNone/>
            </a:pPr>
            <a:r>
              <a:rPr i="0" lang="en-US" sz="1300" u="none" cap="none" strike="noStrike">
                <a:solidFill>
                  <a:schemeClr val="lt1"/>
                </a:solidFill>
                <a:latin typeface="Lato"/>
                <a:ea typeface="Lato"/>
                <a:cs typeface="Lato"/>
                <a:sym typeface="Lato"/>
              </a:rPr>
              <a:t>What We've Observed So Far</a:t>
            </a:r>
            <a:endParaRPr i="0" sz="1300" u="none" cap="none" strike="noStrike">
              <a:solidFill>
                <a:schemeClr val="lt1"/>
              </a:solidFill>
              <a:latin typeface="Lato"/>
              <a:ea typeface="Lato"/>
              <a:cs typeface="Lato"/>
              <a:sym typeface="Lato"/>
            </a:endParaRPr>
          </a:p>
        </p:txBody>
      </p:sp>
      <p:sp>
        <p:nvSpPr>
          <p:cNvPr id="45" name="Google Shape;45;p4"/>
          <p:cNvSpPr/>
          <p:nvPr/>
        </p:nvSpPr>
        <p:spPr>
          <a:xfrm>
            <a:off x="457200" y="2862072"/>
            <a:ext cx="8229600" cy="402336"/>
          </a:xfrm>
          <a:prstGeom prst="roundRect">
            <a:avLst>
              <a:gd fmla="val 18182"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566928" y="2935224"/>
            <a:ext cx="365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Calibri"/>
                <a:ea typeface="Calibri"/>
                <a:cs typeface="Calibri"/>
                <a:sym typeface="Calibri"/>
              </a:rPr>
              <a:t>05</a:t>
            </a:r>
            <a:endParaRPr b="0" i="0" sz="1100" u="none" cap="none" strike="noStrike">
              <a:solidFill>
                <a:schemeClr val="dk1"/>
              </a:solidFill>
              <a:latin typeface="Calibri"/>
              <a:ea typeface="Calibri"/>
              <a:cs typeface="Calibri"/>
              <a:sym typeface="Calibri"/>
            </a:endParaRPr>
          </a:p>
        </p:txBody>
      </p:sp>
      <p:sp>
        <p:nvSpPr>
          <p:cNvPr id="47" name="Google Shape;47;p4"/>
          <p:cNvSpPr/>
          <p:nvPr/>
        </p:nvSpPr>
        <p:spPr>
          <a:xfrm>
            <a:off x="1005840" y="2935224"/>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300"/>
              <a:buFont typeface="Calibri"/>
              <a:buNone/>
            </a:pPr>
            <a:r>
              <a:rPr i="0" lang="en-US" sz="1300" u="none" cap="none" strike="noStrike">
                <a:solidFill>
                  <a:schemeClr val="lt1"/>
                </a:solidFill>
                <a:latin typeface="Lato"/>
                <a:ea typeface="Lato"/>
                <a:cs typeface="Lato"/>
                <a:sym typeface="Lato"/>
              </a:rPr>
              <a:t>Proposed Metrics </a:t>
            </a:r>
            <a:r>
              <a:rPr lang="en-US" sz="1300">
                <a:solidFill>
                  <a:schemeClr val="lt1"/>
                </a:solidFill>
                <a:latin typeface="Lato"/>
                <a:ea typeface="Lato"/>
                <a:cs typeface="Lato"/>
                <a:sym typeface="Lato"/>
              </a:rPr>
              <a:t>-</a:t>
            </a:r>
            <a:r>
              <a:rPr i="0" lang="en-US" sz="1300" u="none" cap="none" strike="noStrike">
                <a:solidFill>
                  <a:schemeClr val="lt1"/>
                </a:solidFill>
                <a:latin typeface="Lato"/>
                <a:ea typeface="Lato"/>
                <a:cs typeface="Lato"/>
                <a:sym typeface="Lato"/>
              </a:rPr>
              <a:t> For Validation Today</a:t>
            </a:r>
            <a:endParaRPr i="0" sz="1300" u="none" cap="none" strike="noStrike">
              <a:solidFill>
                <a:schemeClr val="lt1"/>
              </a:solidFill>
              <a:latin typeface="Lato"/>
              <a:ea typeface="Lato"/>
              <a:cs typeface="Lato"/>
              <a:sym typeface="Lato"/>
            </a:endParaRPr>
          </a:p>
        </p:txBody>
      </p:sp>
      <p:sp>
        <p:nvSpPr>
          <p:cNvPr id="48" name="Google Shape;48;p4"/>
          <p:cNvSpPr/>
          <p:nvPr/>
        </p:nvSpPr>
        <p:spPr>
          <a:xfrm>
            <a:off x="457200" y="3337560"/>
            <a:ext cx="8229600" cy="402336"/>
          </a:xfrm>
          <a:prstGeom prst="roundRect">
            <a:avLst>
              <a:gd fmla="val 18182"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566928" y="3410712"/>
            <a:ext cx="365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Calibri"/>
                <a:ea typeface="Calibri"/>
                <a:cs typeface="Calibri"/>
                <a:sym typeface="Calibri"/>
              </a:rPr>
              <a:t>06</a:t>
            </a:r>
            <a:endParaRPr b="0" i="0" sz="1100" u="none" cap="none" strike="noStrike">
              <a:solidFill>
                <a:schemeClr val="dk1"/>
              </a:solidFill>
              <a:latin typeface="Calibri"/>
              <a:ea typeface="Calibri"/>
              <a:cs typeface="Calibri"/>
              <a:sym typeface="Calibri"/>
            </a:endParaRPr>
          </a:p>
        </p:txBody>
      </p:sp>
      <p:sp>
        <p:nvSpPr>
          <p:cNvPr id="50" name="Google Shape;50;p4"/>
          <p:cNvSpPr/>
          <p:nvPr/>
        </p:nvSpPr>
        <p:spPr>
          <a:xfrm>
            <a:off x="1005840" y="3410712"/>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300"/>
              <a:buFont typeface="Calibri"/>
              <a:buNone/>
            </a:pPr>
            <a:r>
              <a:rPr i="0" lang="en-US" sz="1300" u="none" cap="none" strike="noStrike">
                <a:solidFill>
                  <a:schemeClr val="lt1"/>
                </a:solidFill>
                <a:latin typeface="Lato"/>
                <a:ea typeface="Lato"/>
                <a:cs typeface="Lato"/>
                <a:sym typeface="Lato"/>
              </a:rPr>
              <a:t>Quick Wins </a:t>
            </a:r>
            <a:r>
              <a:rPr lang="en-US" sz="1300">
                <a:solidFill>
                  <a:schemeClr val="lt1"/>
                </a:solidFill>
                <a:latin typeface="Lato"/>
                <a:ea typeface="Lato"/>
                <a:cs typeface="Lato"/>
                <a:sym typeface="Lato"/>
              </a:rPr>
              <a:t>-</a:t>
            </a:r>
            <a:r>
              <a:rPr i="0" lang="en-US" sz="1300" u="none" cap="none" strike="noStrike">
                <a:solidFill>
                  <a:schemeClr val="lt1"/>
                </a:solidFill>
                <a:latin typeface="Lato"/>
                <a:ea typeface="Lato"/>
                <a:cs typeface="Lato"/>
                <a:sym typeface="Lato"/>
              </a:rPr>
              <a:t> Where We Start</a:t>
            </a:r>
            <a:endParaRPr i="0" sz="1300" u="none" cap="none" strike="noStrike">
              <a:solidFill>
                <a:schemeClr val="lt1"/>
              </a:solidFill>
              <a:latin typeface="Lato"/>
              <a:ea typeface="Lato"/>
              <a:cs typeface="Lato"/>
              <a:sym typeface="Lato"/>
            </a:endParaRPr>
          </a:p>
        </p:txBody>
      </p:sp>
      <p:sp>
        <p:nvSpPr>
          <p:cNvPr id="51" name="Google Shape;51;p4"/>
          <p:cNvSpPr/>
          <p:nvPr/>
        </p:nvSpPr>
        <p:spPr>
          <a:xfrm>
            <a:off x="457200" y="3813048"/>
            <a:ext cx="8229600" cy="402336"/>
          </a:xfrm>
          <a:prstGeom prst="roundRect">
            <a:avLst>
              <a:gd fmla="val 18182"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566928" y="3886200"/>
            <a:ext cx="365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Calibri"/>
                <a:ea typeface="Calibri"/>
                <a:cs typeface="Calibri"/>
                <a:sym typeface="Calibri"/>
              </a:rPr>
              <a:t>07</a:t>
            </a:r>
            <a:endParaRPr b="0" i="0" sz="1100" u="none" cap="none" strike="noStrike">
              <a:solidFill>
                <a:schemeClr val="dk1"/>
              </a:solidFill>
              <a:latin typeface="Calibri"/>
              <a:ea typeface="Calibri"/>
              <a:cs typeface="Calibri"/>
              <a:sym typeface="Calibri"/>
            </a:endParaRPr>
          </a:p>
        </p:txBody>
      </p:sp>
      <p:sp>
        <p:nvSpPr>
          <p:cNvPr id="53" name="Google Shape;53;p4"/>
          <p:cNvSpPr/>
          <p:nvPr/>
        </p:nvSpPr>
        <p:spPr>
          <a:xfrm>
            <a:off x="1005840" y="3886200"/>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300"/>
              <a:buFont typeface="Calibri"/>
              <a:buNone/>
            </a:pPr>
            <a:r>
              <a:rPr i="0" lang="en-US" sz="1300" u="none" cap="none" strike="noStrike">
                <a:solidFill>
                  <a:schemeClr val="lt1"/>
                </a:solidFill>
                <a:latin typeface="Lato"/>
                <a:ea typeface="Lato"/>
                <a:cs typeface="Lato"/>
                <a:sym typeface="Lato"/>
              </a:rPr>
              <a:t>Roadmap &amp; Delivery Cadence</a:t>
            </a:r>
            <a:endParaRPr i="0" sz="1300" u="none" cap="none" strike="noStrike">
              <a:solidFill>
                <a:schemeClr val="lt1"/>
              </a:solidFill>
              <a:latin typeface="Lato"/>
              <a:ea typeface="Lato"/>
              <a:cs typeface="Lato"/>
              <a:sym typeface="Lato"/>
            </a:endParaRPr>
          </a:p>
        </p:txBody>
      </p:sp>
      <p:sp>
        <p:nvSpPr>
          <p:cNvPr id="54" name="Google Shape;54;p4"/>
          <p:cNvSpPr/>
          <p:nvPr/>
        </p:nvSpPr>
        <p:spPr>
          <a:xfrm>
            <a:off x="457200" y="4288536"/>
            <a:ext cx="8229600" cy="402336"/>
          </a:xfrm>
          <a:prstGeom prst="roundRect">
            <a:avLst>
              <a:gd fmla="val 18182"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566928" y="4361688"/>
            <a:ext cx="365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Calibri"/>
                <a:ea typeface="Calibri"/>
                <a:cs typeface="Calibri"/>
                <a:sym typeface="Calibri"/>
              </a:rPr>
              <a:t>08</a:t>
            </a:r>
            <a:endParaRPr b="0" i="0" sz="1100" u="none" cap="none" strike="noStrike">
              <a:solidFill>
                <a:schemeClr val="dk1"/>
              </a:solidFill>
              <a:latin typeface="Calibri"/>
              <a:ea typeface="Calibri"/>
              <a:cs typeface="Calibri"/>
              <a:sym typeface="Calibri"/>
            </a:endParaRPr>
          </a:p>
        </p:txBody>
      </p:sp>
      <p:sp>
        <p:nvSpPr>
          <p:cNvPr id="56" name="Google Shape;56;p4"/>
          <p:cNvSpPr/>
          <p:nvPr/>
        </p:nvSpPr>
        <p:spPr>
          <a:xfrm>
            <a:off x="1005840" y="4361688"/>
            <a:ext cx="7315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300"/>
              <a:buFont typeface="Calibri"/>
              <a:buNone/>
            </a:pPr>
            <a:r>
              <a:rPr i="0" lang="en-US" sz="1300" u="none" cap="none" strike="noStrike">
                <a:solidFill>
                  <a:schemeClr val="lt1"/>
                </a:solidFill>
                <a:latin typeface="Lato"/>
                <a:ea typeface="Lato"/>
                <a:cs typeface="Lato"/>
                <a:sym typeface="Lato"/>
              </a:rPr>
              <a:t>Next Steps &amp; What We Need From You</a:t>
            </a:r>
            <a:endParaRPr i="0" sz="1300" u="none" cap="none" strike="noStrike">
              <a:solidFill>
                <a:schemeClr val="lt1"/>
              </a:solidFill>
              <a:latin typeface="Lato"/>
              <a:ea typeface="Lato"/>
              <a:cs typeface="Lato"/>
              <a:sym typeface="Lato"/>
            </a:endParaRPr>
          </a:p>
        </p:txBody>
      </p:sp>
      <p:sp>
        <p:nvSpPr>
          <p:cNvPr id="57" name="Google Shape;57;p4"/>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58" name="Google Shape;58;p4"/>
          <p:cNvCxnSpPr>
            <a:endCxn id="57"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59" name="Google Shape;59;p4"/>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2040"/>
        </a:solidFill>
      </p:bgPr>
    </p:bg>
    <p:spTree>
      <p:nvGrpSpPr>
        <p:cNvPr id="64" name="Shape 64"/>
        <p:cNvGrpSpPr/>
        <p:nvPr/>
      </p:nvGrpSpPr>
      <p:grpSpPr>
        <a:xfrm>
          <a:off x="0" y="0"/>
          <a:ext cx="0" cy="0"/>
          <a:chOff x="0" y="0"/>
          <a:chExt cx="0" cy="0"/>
        </a:xfrm>
      </p:grpSpPr>
      <p:sp>
        <p:nvSpPr>
          <p:cNvPr id="65" name="Google Shape;65;p5"/>
          <p:cNvSpPr/>
          <p:nvPr/>
        </p:nvSpPr>
        <p:spPr>
          <a:xfrm>
            <a:off x="457200" y="320040"/>
            <a:ext cx="822960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chemeClr val="lt1"/>
                </a:solidFill>
                <a:latin typeface="Lato"/>
                <a:ea typeface="Lato"/>
                <a:cs typeface="Lato"/>
                <a:sym typeface="Lato"/>
              </a:rPr>
              <a:t>Meet Your Bound Core Team</a:t>
            </a:r>
            <a:endParaRPr i="0" sz="3200" u="none" cap="none" strike="noStrike">
              <a:solidFill>
                <a:schemeClr val="lt1"/>
              </a:solidFill>
              <a:latin typeface="Lato"/>
              <a:ea typeface="Lato"/>
              <a:cs typeface="Lato"/>
              <a:sym typeface="Lato"/>
            </a:endParaRPr>
          </a:p>
        </p:txBody>
      </p:sp>
      <p:sp>
        <p:nvSpPr>
          <p:cNvPr id="66" name="Google Shape;66;p5"/>
          <p:cNvSpPr/>
          <p:nvPr/>
        </p:nvSpPr>
        <p:spPr>
          <a:xfrm>
            <a:off x="365760" y="1005840"/>
            <a:ext cx="4160520" cy="1737360"/>
          </a:xfrm>
          <a:prstGeom prst="roundRect">
            <a:avLst>
              <a:gd fmla="val 4211"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548640" y="1170432"/>
            <a:ext cx="3794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Lato"/>
                <a:ea typeface="Lato"/>
                <a:cs typeface="Lato"/>
                <a:sym typeface="Lato"/>
              </a:rPr>
              <a:t>Rui Calvario</a:t>
            </a:r>
            <a:endParaRPr i="0" sz="1400" u="none" cap="none" strike="noStrike">
              <a:solidFill>
                <a:srgbClr val="FFFFFF"/>
              </a:solidFill>
              <a:latin typeface="Lato"/>
              <a:ea typeface="Lato"/>
              <a:cs typeface="Lato"/>
              <a:sym typeface="Lato"/>
            </a:endParaRPr>
          </a:p>
        </p:txBody>
      </p:sp>
      <p:sp>
        <p:nvSpPr>
          <p:cNvPr id="68" name="Google Shape;68;p5"/>
          <p:cNvSpPr/>
          <p:nvPr/>
        </p:nvSpPr>
        <p:spPr>
          <a:xfrm>
            <a:off x="548640" y="1481328"/>
            <a:ext cx="37947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i="0" lang="en-US" sz="1100" u="none" cap="none" strike="noStrike">
                <a:solidFill>
                  <a:srgbClr val="7B5EA7"/>
                </a:solidFill>
                <a:latin typeface="Lato"/>
                <a:ea typeface="Lato"/>
                <a:cs typeface="Lato"/>
                <a:sym typeface="Lato"/>
              </a:rPr>
              <a:t>Head of Projects</a:t>
            </a:r>
            <a:endParaRPr i="0" sz="1100" u="none" cap="none" strike="noStrike">
              <a:solidFill>
                <a:schemeClr val="dk1"/>
              </a:solidFill>
              <a:latin typeface="Lato"/>
              <a:ea typeface="Lato"/>
              <a:cs typeface="Lato"/>
              <a:sym typeface="Lato"/>
            </a:endParaRPr>
          </a:p>
        </p:txBody>
      </p:sp>
      <p:sp>
        <p:nvSpPr>
          <p:cNvPr id="69" name="Google Shape;69;p5"/>
          <p:cNvSpPr/>
          <p:nvPr/>
        </p:nvSpPr>
        <p:spPr>
          <a:xfrm>
            <a:off x="548640" y="1755648"/>
            <a:ext cx="379476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Your main point of contact throughout the engagement. Responsible for planning, delivery, and weekly standups. Keeps everything moving and makes sure you always know what is happening and what is next.</a:t>
            </a:r>
            <a:endParaRPr i="0" sz="1000" u="none" cap="none" strike="noStrike">
              <a:solidFill>
                <a:srgbClr val="FFFFFF"/>
              </a:solidFill>
              <a:latin typeface="Lato"/>
              <a:ea typeface="Lato"/>
              <a:cs typeface="Lato"/>
              <a:sym typeface="Lato"/>
            </a:endParaRPr>
          </a:p>
        </p:txBody>
      </p:sp>
      <p:sp>
        <p:nvSpPr>
          <p:cNvPr id="70" name="Google Shape;70;p5"/>
          <p:cNvSpPr/>
          <p:nvPr/>
        </p:nvSpPr>
        <p:spPr>
          <a:xfrm>
            <a:off x="4617720" y="1005840"/>
            <a:ext cx="4160520" cy="1737360"/>
          </a:xfrm>
          <a:prstGeom prst="roundRect">
            <a:avLst>
              <a:gd fmla="val 4211"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800600" y="1170432"/>
            <a:ext cx="3794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Lato"/>
                <a:ea typeface="Lato"/>
                <a:cs typeface="Lato"/>
                <a:sym typeface="Lato"/>
              </a:rPr>
              <a:t>James Cook</a:t>
            </a:r>
            <a:endParaRPr i="0" sz="1400" u="none" cap="none" strike="noStrike">
              <a:solidFill>
                <a:srgbClr val="FFFFFF"/>
              </a:solidFill>
              <a:latin typeface="Lato"/>
              <a:ea typeface="Lato"/>
              <a:cs typeface="Lato"/>
              <a:sym typeface="Lato"/>
            </a:endParaRPr>
          </a:p>
        </p:txBody>
      </p:sp>
      <p:sp>
        <p:nvSpPr>
          <p:cNvPr id="72" name="Google Shape;72;p5"/>
          <p:cNvSpPr/>
          <p:nvPr/>
        </p:nvSpPr>
        <p:spPr>
          <a:xfrm>
            <a:off x="4800600" y="1481328"/>
            <a:ext cx="37947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i="0" lang="en-US" sz="1100" u="none" cap="none" strike="noStrike">
                <a:solidFill>
                  <a:srgbClr val="7B5EA7"/>
                </a:solidFill>
                <a:latin typeface="Lato"/>
                <a:ea typeface="Lato"/>
                <a:cs typeface="Lato"/>
                <a:sym typeface="Lato"/>
              </a:rPr>
              <a:t>Founder &amp; Director</a:t>
            </a:r>
            <a:endParaRPr i="0" sz="1100" u="none" cap="none" strike="noStrike">
              <a:solidFill>
                <a:schemeClr val="dk1"/>
              </a:solidFill>
              <a:latin typeface="Lato"/>
              <a:ea typeface="Lato"/>
              <a:cs typeface="Lato"/>
              <a:sym typeface="Lato"/>
            </a:endParaRPr>
          </a:p>
        </p:txBody>
      </p:sp>
      <p:sp>
        <p:nvSpPr>
          <p:cNvPr id="73" name="Google Shape;73;p5"/>
          <p:cNvSpPr/>
          <p:nvPr/>
        </p:nvSpPr>
        <p:spPr>
          <a:xfrm>
            <a:off x="4800600" y="1755648"/>
            <a:ext cx="379476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Strategic oversight across the engagement. James is involved in all key architecture decisions and monthly strategy sessions to make sure the work stays aligned with the bigger commercial picture.</a:t>
            </a:r>
            <a:endParaRPr i="0" sz="1000" u="none" cap="none" strike="noStrike">
              <a:solidFill>
                <a:srgbClr val="FFFFFF"/>
              </a:solidFill>
              <a:latin typeface="Lato"/>
              <a:ea typeface="Lato"/>
              <a:cs typeface="Lato"/>
              <a:sym typeface="Lato"/>
            </a:endParaRPr>
          </a:p>
        </p:txBody>
      </p:sp>
      <p:sp>
        <p:nvSpPr>
          <p:cNvPr id="74" name="Google Shape;74;p5"/>
          <p:cNvSpPr/>
          <p:nvPr/>
        </p:nvSpPr>
        <p:spPr>
          <a:xfrm>
            <a:off x="365760" y="3017520"/>
            <a:ext cx="8412480" cy="1737360"/>
          </a:xfrm>
          <a:prstGeom prst="roundRect">
            <a:avLst>
              <a:gd fmla="val 4211"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548640" y="3182112"/>
            <a:ext cx="8046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Lato"/>
                <a:ea typeface="Lato"/>
                <a:cs typeface="Lato"/>
                <a:sym typeface="Lato"/>
              </a:rPr>
              <a:t>Alicia</a:t>
            </a:r>
            <a:endParaRPr i="0" sz="1400" u="none" cap="none" strike="noStrike">
              <a:solidFill>
                <a:srgbClr val="FFFFFF"/>
              </a:solidFill>
              <a:latin typeface="Lato"/>
              <a:ea typeface="Lato"/>
              <a:cs typeface="Lato"/>
              <a:sym typeface="Lato"/>
            </a:endParaRPr>
          </a:p>
        </p:txBody>
      </p:sp>
      <p:sp>
        <p:nvSpPr>
          <p:cNvPr id="76" name="Google Shape;76;p5"/>
          <p:cNvSpPr/>
          <p:nvPr/>
        </p:nvSpPr>
        <p:spPr>
          <a:xfrm>
            <a:off x="548640" y="3493008"/>
            <a:ext cx="80467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i="0" lang="en-US" sz="1100" u="none" cap="none" strike="noStrike">
                <a:solidFill>
                  <a:srgbClr val="7B5EA7"/>
                </a:solidFill>
                <a:latin typeface="Lato"/>
                <a:ea typeface="Lato"/>
                <a:cs typeface="Lato"/>
                <a:sym typeface="Lato"/>
              </a:rPr>
              <a:t>HubSpot Delivery</a:t>
            </a:r>
            <a:endParaRPr i="0" sz="1100" u="none" cap="none" strike="noStrike">
              <a:solidFill>
                <a:schemeClr val="dk1"/>
              </a:solidFill>
              <a:latin typeface="Lato"/>
              <a:ea typeface="Lato"/>
              <a:cs typeface="Lato"/>
              <a:sym typeface="Lato"/>
            </a:endParaRPr>
          </a:p>
        </p:txBody>
      </p:sp>
      <p:sp>
        <p:nvSpPr>
          <p:cNvPr id="77" name="Google Shape;77;p5"/>
          <p:cNvSpPr/>
          <p:nvPr/>
        </p:nvSpPr>
        <p:spPr>
          <a:xfrm>
            <a:off x="548640" y="3767328"/>
            <a:ext cx="80467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Hands-on HubSpot implementation </a:t>
            </a:r>
            <a:r>
              <a:rPr lang="en-US" sz="1000">
                <a:solidFill>
                  <a:srgbClr val="FFFFFF"/>
                </a:solidFill>
                <a:latin typeface="Lato"/>
                <a:ea typeface="Lato"/>
                <a:cs typeface="Lato"/>
                <a:sym typeface="Lato"/>
              </a:rPr>
              <a:t>-</a:t>
            </a:r>
            <a:r>
              <a:rPr i="0" lang="en-US" sz="1000" u="none" cap="none" strike="noStrike">
                <a:solidFill>
                  <a:srgbClr val="FFFFFF"/>
                </a:solidFill>
                <a:latin typeface="Lato"/>
                <a:ea typeface="Lato"/>
                <a:cs typeface="Lato"/>
                <a:sym typeface="Lato"/>
              </a:rPr>
              <a:t> contact cleanup, pipeline builds, workflow configuration, and portal setup. Alicia handles the technical execution that turns the strategy into something you can use every day.</a:t>
            </a:r>
            <a:endParaRPr i="0" sz="1000" u="none" cap="none" strike="noStrike">
              <a:solidFill>
                <a:srgbClr val="FFFFFF"/>
              </a:solidFill>
              <a:latin typeface="Lato"/>
              <a:ea typeface="Lato"/>
              <a:cs typeface="Lato"/>
              <a:sym typeface="Lato"/>
            </a:endParaRPr>
          </a:p>
        </p:txBody>
      </p:sp>
      <p:sp>
        <p:nvSpPr>
          <p:cNvPr id="78" name="Google Shape;78;p5"/>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79" name="Google Shape;79;p5"/>
          <p:cNvCxnSpPr>
            <a:endCxn id="78"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80" name="Google Shape;80;p5"/>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2040"/>
        </a:solidFill>
      </p:bgPr>
    </p:bg>
    <p:spTree>
      <p:nvGrpSpPr>
        <p:cNvPr id="85" name="Shape 85"/>
        <p:cNvGrpSpPr/>
        <p:nvPr/>
      </p:nvGrpSpPr>
      <p:grpSpPr>
        <a:xfrm>
          <a:off x="0" y="0"/>
          <a:ext cx="0" cy="0"/>
          <a:chOff x="0" y="0"/>
          <a:chExt cx="0" cy="0"/>
        </a:xfrm>
      </p:grpSpPr>
      <p:sp>
        <p:nvSpPr>
          <p:cNvPr id="86" name="Google Shape;86;p6"/>
          <p:cNvSpPr/>
          <p:nvPr/>
        </p:nvSpPr>
        <p:spPr>
          <a:xfrm>
            <a:off x="457200" y="320040"/>
            <a:ext cx="822960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Lato"/>
                <a:ea typeface="Lato"/>
                <a:cs typeface="Lato"/>
                <a:sym typeface="Lato"/>
              </a:rPr>
              <a:t>Why We're Here</a:t>
            </a:r>
            <a:endParaRPr i="0" sz="3200" u="none" cap="none" strike="noStrike">
              <a:solidFill>
                <a:srgbClr val="FFFFFF"/>
              </a:solidFill>
              <a:latin typeface="Lato"/>
              <a:ea typeface="Lato"/>
              <a:cs typeface="Lato"/>
              <a:sym typeface="Lato"/>
            </a:endParaRPr>
          </a:p>
        </p:txBody>
      </p:sp>
      <p:sp>
        <p:nvSpPr>
          <p:cNvPr id="87" name="Google Shape;87;p6"/>
          <p:cNvSpPr/>
          <p:nvPr/>
        </p:nvSpPr>
        <p:spPr>
          <a:xfrm>
            <a:off x="457200" y="1341120"/>
            <a:ext cx="40233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300"/>
              <a:buFont typeface="Calibri"/>
              <a:buNone/>
            </a:pPr>
            <a:r>
              <a:rPr b="1" i="0" lang="en-US" sz="1300" u="none" cap="none" strike="noStrike">
                <a:solidFill>
                  <a:srgbClr val="7B5EA7"/>
                </a:solidFill>
                <a:latin typeface="Lato"/>
                <a:ea typeface="Lato"/>
                <a:cs typeface="Lato"/>
                <a:sym typeface="Lato"/>
              </a:rPr>
              <a:t>The Reality</a:t>
            </a:r>
            <a:endParaRPr i="0" sz="1300" u="none" cap="none" strike="noStrike">
              <a:solidFill>
                <a:schemeClr val="dk1"/>
              </a:solidFill>
              <a:latin typeface="Lato"/>
              <a:ea typeface="Lato"/>
              <a:cs typeface="Lato"/>
              <a:sym typeface="Lato"/>
            </a:endParaRPr>
          </a:p>
        </p:txBody>
      </p:sp>
      <p:sp>
        <p:nvSpPr>
          <p:cNvPr id="88" name="Google Shape;88;p6"/>
          <p:cNvSpPr/>
          <p:nvPr/>
        </p:nvSpPr>
        <p:spPr>
          <a:xfrm>
            <a:off x="457200" y="1325880"/>
            <a:ext cx="3840480" cy="320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Robert put it plainly: "For me to be head of sales and not be able to run a pipeline report or a sales forecast because it says zero across everything </a:t>
            </a:r>
            <a:r>
              <a:rPr lang="en-US" sz="1050">
                <a:solidFill>
                  <a:srgbClr val="FFFFFF"/>
                </a:solidFill>
                <a:latin typeface="Lato"/>
                <a:ea typeface="Lato"/>
                <a:cs typeface="Lato"/>
                <a:sym typeface="Lato"/>
              </a:rPr>
              <a:t>-</a:t>
            </a:r>
            <a:r>
              <a:rPr i="0" lang="en-US" sz="1050" u="none" cap="none" strike="noStrike">
                <a:solidFill>
                  <a:srgbClr val="FFFFFF"/>
                </a:solidFill>
                <a:latin typeface="Lato"/>
                <a:ea typeface="Lato"/>
                <a:cs typeface="Lato"/>
                <a:sym typeface="Lato"/>
              </a:rPr>
              <a:t> it's just pretty pointless." He opened HubSpot in a board meeting with 30 directors and had nothing to show. </a:t>
            </a:r>
            <a:br>
              <a:rPr i="0" lang="en-US" sz="1050" u="none" cap="none" strike="noStrike">
                <a:solidFill>
                  <a:srgbClr val="FFFFFF"/>
                </a:solidFill>
                <a:latin typeface="Lato"/>
                <a:ea typeface="Lato"/>
                <a:cs typeface="Lato"/>
                <a:sym typeface="Lato"/>
              </a:rPr>
            </a:br>
            <a:br>
              <a:rPr i="0" lang="en-US" sz="1050" u="none" cap="none" strike="noStrike">
                <a:solidFill>
                  <a:srgbClr val="FFFFFF"/>
                </a:solidFill>
                <a:latin typeface="Lato"/>
                <a:ea typeface="Lato"/>
                <a:cs typeface="Lato"/>
                <a:sym typeface="Lato"/>
              </a:rPr>
            </a:br>
            <a:r>
              <a:rPr i="0" lang="en-US" sz="1050" u="none" cap="none" strike="noStrike">
                <a:solidFill>
                  <a:srgbClr val="FFFFFF"/>
                </a:solidFill>
                <a:latin typeface="Lato"/>
                <a:ea typeface="Lato"/>
                <a:cs typeface="Lato"/>
                <a:sym typeface="Lato"/>
              </a:rPr>
              <a:t>David confirmed: "Reports are always wrong anyway." </a:t>
            </a:r>
            <a:br>
              <a:rPr i="0" lang="en-US" sz="1050" u="none" cap="none" strike="noStrike">
                <a:solidFill>
                  <a:srgbClr val="FFFFFF"/>
                </a:solidFill>
                <a:latin typeface="Lato"/>
                <a:ea typeface="Lato"/>
                <a:cs typeface="Lato"/>
                <a:sym typeface="Lato"/>
              </a:rPr>
            </a:br>
            <a:br>
              <a:rPr i="0" lang="en-US" sz="1050" u="none" cap="none" strike="noStrike">
                <a:solidFill>
                  <a:srgbClr val="FFFFFF"/>
                </a:solidFill>
                <a:latin typeface="Lato"/>
                <a:ea typeface="Lato"/>
                <a:cs typeface="Lato"/>
                <a:sym typeface="Lato"/>
              </a:rPr>
            </a:br>
            <a:r>
              <a:rPr i="0" lang="en-US" sz="1050" u="none" cap="none" strike="noStrike">
                <a:solidFill>
                  <a:srgbClr val="FFFFFF"/>
                </a:solidFill>
                <a:latin typeface="Lato"/>
                <a:ea typeface="Lato"/>
                <a:cs typeface="Lato"/>
                <a:sym typeface="Lato"/>
              </a:rPr>
              <a:t>Meanwhile, 14,860 contacts have no lead status, the sales team are not logging activity, and technical support is running at 5-7 days against a 24-hour SLA target.</a:t>
            </a:r>
            <a:endParaRPr i="0" sz="1050" u="none" cap="none" strike="noStrike">
              <a:solidFill>
                <a:srgbClr val="FFFFFF"/>
              </a:solidFill>
              <a:latin typeface="Lato"/>
              <a:ea typeface="Lato"/>
              <a:cs typeface="Lato"/>
              <a:sym typeface="Lato"/>
            </a:endParaRPr>
          </a:p>
        </p:txBody>
      </p:sp>
      <p:cxnSp>
        <p:nvCxnSpPr>
          <p:cNvPr id="89" name="Google Shape;89;p6"/>
          <p:cNvCxnSpPr/>
          <p:nvPr/>
        </p:nvCxnSpPr>
        <p:spPr>
          <a:xfrm>
            <a:off x="4572000" y="960120"/>
            <a:ext cx="0" cy="3566160"/>
          </a:xfrm>
          <a:prstGeom prst="straightConnector1">
            <a:avLst/>
          </a:prstGeom>
          <a:noFill/>
          <a:ln cap="flat" cmpd="sng" w="12700">
            <a:solidFill>
              <a:srgbClr val="1E2A4A"/>
            </a:solidFill>
            <a:prstDash val="solid"/>
            <a:round/>
            <a:headEnd len="sm" w="sm" type="none"/>
            <a:tailEnd len="sm" w="sm" type="none"/>
          </a:ln>
        </p:spPr>
      </p:cxnSp>
      <p:sp>
        <p:nvSpPr>
          <p:cNvPr id="90" name="Google Shape;90;p6"/>
          <p:cNvSpPr/>
          <p:nvPr/>
        </p:nvSpPr>
        <p:spPr>
          <a:xfrm>
            <a:off x="4800600" y="1341120"/>
            <a:ext cx="39318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300"/>
              <a:buFont typeface="Calibri"/>
              <a:buNone/>
            </a:pPr>
            <a:r>
              <a:rPr b="1" i="0" lang="en-US" sz="1300" u="none" cap="none" strike="noStrike">
                <a:solidFill>
                  <a:srgbClr val="7B5EA7"/>
                </a:solidFill>
                <a:latin typeface="Lato"/>
                <a:ea typeface="Lato"/>
                <a:cs typeface="Lato"/>
                <a:sym typeface="Lato"/>
              </a:rPr>
              <a:t>The Goal</a:t>
            </a:r>
            <a:endParaRPr i="0" sz="1300" u="none" cap="none" strike="noStrike">
              <a:solidFill>
                <a:schemeClr val="dk1"/>
              </a:solidFill>
              <a:latin typeface="Lato"/>
              <a:ea typeface="Lato"/>
              <a:cs typeface="Lato"/>
              <a:sym typeface="Lato"/>
            </a:endParaRPr>
          </a:p>
        </p:txBody>
      </p:sp>
      <p:sp>
        <p:nvSpPr>
          <p:cNvPr id="91" name="Google Shape;91;p6"/>
          <p:cNvSpPr/>
          <p:nvPr/>
        </p:nvSpPr>
        <p:spPr>
          <a:xfrm>
            <a:off x="4800600" y="1325880"/>
            <a:ext cx="3840480" cy="320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By the end of this engagement, </a:t>
            </a:r>
            <a:r>
              <a:rPr lang="en-US" sz="1050">
                <a:solidFill>
                  <a:srgbClr val="FFFFFF"/>
                </a:solidFill>
                <a:latin typeface="Lato"/>
                <a:ea typeface="Lato"/>
                <a:cs typeface="Lato"/>
                <a:sym typeface="Lato"/>
              </a:rPr>
              <a:t>TBA </a:t>
            </a:r>
            <a:r>
              <a:rPr i="0" lang="en-US" sz="1050" u="none" cap="none" strike="noStrike">
                <a:solidFill>
                  <a:srgbClr val="FFFFFF"/>
                </a:solidFill>
                <a:latin typeface="Lato"/>
                <a:ea typeface="Lato"/>
                <a:cs typeface="Lato"/>
                <a:sym typeface="Lato"/>
              </a:rPr>
              <a:t>can open HubSpot in any meeting and pull a live, trusted pipeline forecast. Every contact has an owner, a status, and a reason to exist.</a:t>
            </a:r>
            <a:br>
              <a:rPr lang="en-US" sz="1050">
                <a:solidFill>
                  <a:srgbClr val="FFFFFF"/>
                </a:solidFill>
                <a:latin typeface="Lato"/>
                <a:ea typeface="Lato"/>
                <a:cs typeface="Lato"/>
                <a:sym typeface="Lato"/>
              </a:rPr>
            </a:br>
            <a:br>
              <a:rPr lang="en-US" sz="1050">
                <a:solidFill>
                  <a:srgbClr val="FFFFFF"/>
                </a:solidFill>
                <a:latin typeface="Lato"/>
                <a:ea typeface="Lato"/>
                <a:cs typeface="Lato"/>
                <a:sym typeface="Lato"/>
              </a:rPr>
            </a:br>
            <a:r>
              <a:rPr i="0" lang="en-US" sz="1050" u="none" cap="none" strike="noStrike">
                <a:solidFill>
                  <a:srgbClr val="FFFFFF"/>
                </a:solidFill>
                <a:latin typeface="Lato"/>
                <a:ea typeface="Lato"/>
                <a:cs typeface="Lato"/>
                <a:sym typeface="Lato"/>
              </a:rPr>
              <a:t>Technical support has a trackable queue with real SLA visibility</a:t>
            </a:r>
            <a:r>
              <a:rPr lang="en-US" sz="1050">
                <a:solidFill>
                  <a:srgbClr val="FFFFFF"/>
                </a:solidFill>
                <a:latin typeface="Lato"/>
                <a:ea typeface="Lato"/>
                <a:cs typeface="Lato"/>
                <a:sym typeface="Lato"/>
              </a:rPr>
              <a:t> a</a:t>
            </a:r>
            <a:r>
              <a:rPr i="0" lang="en-US" sz="1050" u="none" cap="none" strike="noStrike">
                <a:solidFill>
                  <a:srgbClr val="FFFFFF"/>
                </a:solidFill>
                <a:latin typeface="Lato"/>
                <a:ea typeface="Lato"/>
                <a:cs typeface="Lato"/>
                <a:sym typeface="Lato"/>
              </a:rPr>
              <a:t>nd the sales team uses HubSpot because it genuinely helps them </a:t>
            </a:r>
            <a:r>
              <a:rPr lang="en-US" sz="1050">
                <a:solidFill>
                  <a:srgbClr val="FFFFFF"/>
                </a:solidFill>
                <a:latin typeface="Lato"/>
                <a:ea typeface="Lato"/>
                <a:cs typeface="Lato"/>
                <a:sym typeface="Lato"/>
              </a:rPr>
              <a:t>-</a:t>
            </a:r>
            <a:r>
              <a:rPr i="0" lang="en-US" sz="1050" u="none" cap="none" strike="noStrike">
                <a:solidFill>
                  <a:srgbClr val="FFFFFF"/>
                </a:solidFill>
                <a:latin typeface="Lato"/>
                <a:ea typeface="Lato"/>
                <a:cs typeface="Lato"/>
                <a:sym typeface="Lato"/>
              </a:rPr>
              <a:t> not because they have been told to.</a:t>
            </a:r>
            <a:endParaRPr i="0" sz="1050" u="none" cap="none" strike="noStrike">
              <a:solidFill>
                <a:srgbClr val="FFFFFF"/>
              </a:solidFill>
              <a:latin typeface="Lato"/>
              <a:ea typeface="Lato"/>
              <a:cs typeface="Lato"/>
              <a:sym typeface="Lato"/>
            </a:endParaRPr>
          </a:p>
        </p:txBody>
      </p:sp>
      <p:sp>
        <p:nvSpPr>
          <p:cNvPr id="92" name="Google Shape;92;p6"/>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93" name="Google Shape;93;p6"/>
          <p:cNvCxnSpPr>
            <a:endCxn id="92"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94" name="Google Shape;94;p6"/>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2040"/>
        </a:solidFill>
      </p:bgPr>
    </p:bg>
    <p:spTree>
      <p:nvGrpSpPr>
        <p:cNvPr id="99" name="Shape 99"/>
        <p:cNvGrpSpPr/>
        <p:nvPr/>
      </p:nvGrpSpPr>
      <p:grpSpPr>
        <a:xfrm>
          <a:off x="0" y="0"/>
          <a:ext cx="0" cy="0"/>
          <a:chOff x="0" y="0"/>
          <a:chExt cx="0" cy="0"/>
        </a:xfrm>
      </p:grpSpPr>
      <p:sp>
        <p:nvSpPr>
          <p:cNvPr id="100" name="Google Shape;100;p7"/>
          <p:cNvSpPr/>
          <p:nvPr/>
        </p:nvSpPr>
        <p:spPr>
          <a:xfrm>
            <a:off x="457200" y="256032"/>
            <a:ext cx="82296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Lato"/>
                <a:ea typeface="Lato"/>
                <a:cs typeface="Lato"/>
                <a:sym typeface="Lato"/>
              </a:rPr>
              <a:t>Scope of Work</a:t>
            </a:r>
            <a:endParaRPr i="0" sz="2800" u="none" cap="none" strike="noStrike">
              <a:solidFill>
                <a:srgbClr val="FFFFFF"/>
              </a:solidFill>
              <a:latin typeface="Lato"/>
              <a:ea typeface="Lato"/>
              <a:cs typeface="Lato"/>
              <a:sym typeface="Lato"/>
            </a:endParaRPr>
          </a:p>
        </p:txBody>
      </p:sp>
      <p:sp>
        <p:nvSpPr>
          <p:cNvPr id="101" name="Google Shape;101;p7"/>
          <p:cNvSpPr/>
          <p:nvPr/>
        </p:nvSpPr>
        <p:spPr>
          <a:xfrm>
            <a:off x="457200" y="658368"/>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1200"/>
              <a:buFont typeface="Calibri"/>
              <a:buNone/>
            </a:pPr>
            <a:r>
              <a:rPr i="0" lang="en-US" sz="1200" u="none" cap="none" strike="noStrike">
                <a:solidFill>
                  <a:srgbClr val="FFFFFF"/>
                </a:solidFill>
                <a:latin typeface="Lato"/>
                <a:ea typeface="Lato"/>
                <a:cs typeface="Lato"/>
                <a:sym typeface="Lato"/>
              </a:rPr>
              <a:t>Fixed 4 Months Engagement</a:t>
            </a:r>
            <a:endParaRPr i="0" sz="1200" u="none" cap="none" strike="noStrike">
              <a:solidFill>
                <a:srgbClr val="FFFFFF"/>
              </a:solidFill>
              <a:latin typeface="Lato"/>
              <a:ea typeface="Lato"/>
              <a:cs typeface="Lato"/>
              <a:sym typeface="Lato"/>
            </a:endParaRPr>
          </a:p>
        </p:txBody>
      </p:sp>
      <p:sp>
        <p:nvSpPr>
          <p:cNvPr id="102" name="Google Shape;102;p7"/>
          <p:cNvSpPr/>
          <p:nvPr/>
        </p:nvSpPr>
        <p:spPr>
          <a:xfrm>
            <a:off x="365760" y="1993392"/>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Lato"/>
                <a:ea typeface="Lato"/>
                <a:cs typeface="Lato"/>
                <a:sym typeface="Lato"/>
              </a:rPr>
              <a:t>What's Included</a:t>
            </a:r>
            <a:endParaRPr i="0" sz="1300" u="none" cap="none" strike="noStrike">
              <a:solidFill>
                <a:srgbClr val="FFFFFF"/>
              </a:solidFill>
              <a:latin typeface="Lato"/>
              <a:ea typeface="Lato"/>
              <a:cs typeface="Lato"/>
              <a:sym typeface="Lato"/>
            </a:endParaRPr>
          </a:p>
        </p:txBody>
      </p:sp>
      <p:cxnSp>
        <p:nvCxnSpPr>
          <p:cNvPr id="103" name="Google Shape;103;p7"/>
          <p:cNvCxnSpPr/>
          <p:nvPr/>
        </p:nvCxnSpPr>
        <p:spPr>
          <a:xfrm>
            <a:off x="365760" y="2359152"/>
            <a:ext cx="4023360" cy="0"/>
          </a:xfrm>
          <a:prstGeom prst="straightConnector1">
            <a:avLst/>
          </a:prstGeom>
          <a:noFill/>
          <a:ln cap="flat" cmpd="sng" w="10150">
            <a:solidFill>
              <a:srgbClr val="7B5EA7"/>
            </a:solidFill>
            <a:prstDash val="solid"/>
            <a:round/>
            <a:headEnd len="sm" w="sm" type="none"/>
            <a:tailEnd len="sm" w="sm" type="none"/>
          </a:ln>
        </p:spPr>
      </p:cxnSp>
      <p:sp>
        <p:nvSpPr>
          <p:cNvPr id="104" name="Google Shape;104;p7"/>
          <p:cNvSpPr/>
          <p:nvPr/>
        </p:nvSpPr>
        <p:spPr>
          <a:xfrm>
            <a:off x="502920" y="2414016"/>
            <a:ext cx="37490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100"/>
              <a:buFont typeface="Calibri"/>
              <a:buNone/>
            </a:pPr>
            <a:r>
              <a:rPr i="0" lang="en-US" sz="1100" u="none" cap="none" strike="noStrike">
                <a:solidFill>
                  <a:srgbClr val="FFFFFF"/>
                </a:solidFill>
                <a:latin typeface="Lato"/>
                <a:ea typeface="Lato"/>
                <a:cs typeface="Lato"/>
                <a:sym typeface="Lato"/>
              </a:rPr>
              <a:t>Full HubSpot portal audit and health scorecard</a:t>
            </a:r>
            <a:endParaRPr i="0" sz="1100" u="none" cap="none" strike="noStrike">
              <a:solidFill>
                <a:srgbClr val="FFFFFF"/>
              </a:solidFill>
              <a:latin typeface="Lato"/>
              <a:ea typeface="Lato"/>
              <a:cs typeface="Lato"/>
              <a:sym typeface="Lato"/>
            </a:endParaRPr>
          </a:p>
        </p:txBody>
      </p:sp>
      <p:cxnSp>
        <p:nvCxnSpPr>
          <p:cNvPr id="105" name="Google Shape;105;p7"/>
          <p:cNvCxnSpPr/>
          <p:nvPr/>
        </p:nvCxnSpPr>
        <p:spPr>
          <a:xfrm>
            <a:off x="365760" y="2834640"/>
            <a:ext cx="4023360" cy="0"/>
          </a:xfrm>
          <a:prstGeom prst="straightConnector1">
            <a:avLst/>
          </a:prstGeom>
          <a:noFill/>
          <a:ln cap="flat" cmpd="sng" w="10150">
            <a:solidFill>
              <a:srgbClr val="7B5EA7"/>
            </a:solidFill>
            <a:prstDash val="solid"/>
            <a:round/>
            <a:headEnd len="sm" w="sm" type="none"/>
            <a:tailEnd len="sm" w="sm" type="none"/>
          </a:ln>
        </p:spPr>
      </p:cxnSp>
      <p:sp>
        <p:nvSpPr>
          <p:cNvPr id="106" name="Google Shape;106;p7"/>
          <p:cNvSpPr/>
          <p:nvPr/>
        </p:nvSpPr>
        <p:spPr>
          <a:xfrm>
            <a:off x="502920" y="2889504"/>
            <a:ext cx="37490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100"/>
              <a:buFont typeface="Calibri"/>
              <a:buNone/>
            </a:pPr>
            <a:r>
              <a:rPr i="0" lang="en-US" sz="1100" u="none" cap="none" strike="noStrike">
                <a:solidFill>
                  <a:srgbClr val="FFFFFF"/>
                </a:solidFill>
                <a:latin typeface="Lato"/>
                <a:ea typeface="Lato"/>
                <a:cs typeface="Lato"/>
                <a:sym typeface="Lato"/>
              </a:rPr>
              <a:t>CRM architecture review and implementation blueprint</a:t>
            </a:r>
            <a:endParaRPr i="0" sz="1100" u="none" cap="none" strike="noStrike">
              <a:solidFill>
                <a:srgbClr val="FFFFFF"/>
              </a:solidFill>
              <a:latin typeface="Lato"/>
              <a:ea typeface="Lato"/>
              <a:cs typeface="Lato"/>
              <a:sym typeface="Lato"/>
            </a:endParaRPr>
          </a:p>
        </p:txBody>
      </p:sp>
      <p:cxnSp>
        <p:nvCxnSpPr>
          <p:cNvPr id="107" name="Google Shape;107;p7"/>
          <p:cNvCxnSpPr/>
          <p:nvPr/>
        </p:nvCxnSpPr>
        <p:spPr>
          <a:xfrm>
            <a:off x="365760" y="3310128"/>
            <a:ext cx="4023360" cy="0"/>
          </a:xfrm>
          <a:prstGeom prst="straightConnector1">
            <a:avLst/>
          </a:prstGeom>
          <a:noFill/>
          <a:ln cap="flat" cmpd="sng" w="10150">
            <a:solidFill>
              <a:srgbClr val="7B5EA7"/>
            </a:solidFill>
            <a:prstDash val="solid"/>
            <a:round/>
            <a:headEnd len="sm" w="sm" type="none"/>
            <a:tailEnd len="sm" w="sm" type="none"/>
          </a:ln>
        </p:spPr>
      </p:cxnSp>
      <p:sp>
        <p:nvSpPr>
          <p:cNvPr id="108" name="Google Shape;108;p7"/>
          <p:cNvSpPr/>
          <p:nvPr/>
        </p:nvSpPr>
        <p:spPr>
          <a:xfrm>
            <a:off x="502920" y="3364992"/>
            <a:ext cx="37490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100"/>
              <a:buFont typeface="Calibri"/>
              <a:buNone/>
            </a:pPr>
            <a:r>
              <a:rPr i="0" lang="en-US" sz="1100" u="none" cap="none" strike="noStrike">
                <a:solidFill>
                  <a:srgbClr val="FFFFFF"/>
                </a:solidFill>
                <a:latin typeface="Lato"/>
                <a:ea typeface="Lato"/>
                <a:cs typeface="Lato"/>
                <a:sym typeface="Lato"/>
              </a:rPr>
              <a:t>Contact data cleanup, ownership, and lifecycle alignment</a:t>
            </a:r>
            <a:endParaRPr i="0" sz="1100" u="none" cap="none" strike="noStrike">
              <a:solidFill>
                <a:srgbClr val="FFFFFF"/>
              </a:solidFill>
              <a:latin typeface="Lato"/>
              <a:ea typeface="Lato"/>
              <a:cs typeface="Lato"/>
              <a:sym typeface="Lato"/>
            </a:endParaRPr>
          </a:p>
        </p:txBody>
      </p:sp>
      <p:cxnSp>
        <p:nvCxnSpPr>
          <p:cNvPr id="109" name="Google Shape;109;p7"/>
          <p:cNvCxnSpPr/>
          <p:nvPr/>
        </p:nvCxnSpPr>
        <p:spPr>
          <a:xfrm>
            <a:off x="4663440" y="2359152"/>
            <a:ext cx="4023360" cy="0"/>
          </a:xfrm>
          <a:prstGeom prst="straightConnector1">
            <a:avLst/>
          </a:prstGeom>
          <a:noFill/>
          <a:ln cap="flat" cmpd="sng" w="10150">
            <a:solidFill>
              <a:srgbClr val="7B5EA7"/>
            </a:solidFill>
            <a:prstDash val="solid"/>
            <a:round/>
            <a:headEnd len="sm" w="sm" type="none"/>
            <a:tailEnd len="sm" w="sm" type="none"/>
          </a:ln>
        </p:spPr>
      </p:cxnSp>
      <p:sp>
        <p:nvSpPr>
          <p:cNvPr id="110" name="Google Shape;110;p7"/>
          <p:cNvSpPr/>
          <p:nvPr/>
        </p:nvSpPr>
        <p:spPr>
          <a:xfrm>
            <a:off x="4800600" y="2414016"/>
            <a:ext cx="37490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100"/>
              <a:buFont typeface="Calibri"/>
              <a:buNone/>
            </a:pPr>
            <a:r>
              <a:rPr i="0" lang="en-US" sz="1100" u="none" cap="none" strike="noStrike">
                <a:solidFill>
                  <a:srgbClr val="FFFFFF"/>
                </a:solidFill>
                <a:latin typeface="Lato"/>
                <a:ea typeface="Lato"/>
                <a:cs typeface="Lato"/>
                <a:sym typeface="Lato"/>
              </a:rPr>
              <a:t>Sales pipeline rebuild and deal structure optimisation</a:t>
            </a:r>
            <a:endParaRPr i="0" sz="1100" u="none" cap="none" strike="noStrike">
              <a:solidFill>
                <a:srgbClr val="FFFFFF"/>
              </a:solidFill>
              <a:latin typeface="Lato"/>
              <a:ea typeface="Lato"/>
              <a:cs typeface="Lato"/>
              <a:sym typeface="Lato"/>
            </a:endParaRPr>
          </a:p>
        </p:txBody>
      </p:sp>
      <p:cxnSp>
        <p:nvCxnSpPr>
          <p:cNvPr id="111" name="Google Shape;111;p7"/>
          <p:cNvCxnSpPr/>
          <p:nvPr/>
        </p:nvCxnSpPr>
        <p:spPr>
          <a:xfrm>
            <a:off x="4663440" y="2834640"/>
            <a:ext cx="4023360" cy="0"/>
          </a:xfrm>
          <a:prstGeom prst="straightConnector1">
            <a:avLst/>
          </a:prstGeom>
          <a:noFill/>
          <a:ln cap="flat" cmpd="sng" w="10150">
            <a:solidFill>
              <a:srgbClr val="7B5EA7"/>
            </a:solidFill>
            <a:prstDash val="solid"/>
            <a:round/>
            <a:headEnd len="sm" w="sm" type="none"/>
            <a:tailEnd len="sm" w="sm" type="none"/>
          </a:ln>
        </p:spPr>
      </p:cxnSp>
      <p:sp>
        <p:nvSpPr>
          <p:cNvPr id="112" name="Google Shape;112;p7"/>
          <p:cNvSpPr/>
          <p:nvPr/>
        </p:nvSpPr>
        <p:spPr>
          <a:xfrm>
            <a:off x="4800600" y="2889504"/>
            <a:ext cx="37490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100"/>
              <a:buFont typeface="Calibri"/>
              <a:buNone/>
            </a:pPr>
            <a:r>
              <a:rPr i="0" lang="en-US" sz="1100" u="none" cap="none" strike="noStrike">
                <a:solidFill>
                  <a:srgbClr val="FFFFFF"/>
                </a:solidFill>
                <a:latin typeface="Lato"/>
                <a:ea typeface="Lato"/>
                <a:cs typeface="Lato"/>
                <a:sym typeface="Lato"/>
              </a:rPr>
              <a:t>Workflow review, automations, and sales enablement</a:t>
            </a:r>
            <a:endParaRPr i="0" sz="1100" u="none" cap="none" strike="noStrike">
              <a:solidFill>
                <a:srgbClr val="FFFFFF"/>
              </a:solidFill>
              <a:latin typeface="Lato"/>
              <a:ea typeface="Lato"/>
              <a:cs typeface="Lato"/>
              <a:sym typeface="Lato"/>
            </a:endParaRPr>
          </a:p>
        </p:txBody>
      </p:sp>
      <p:cxnSp>
        <p:nvCxnSpPr>
          <p:cNvPr id="113" name="Google Shape;113;p7"/>
          <p:cNvCxnSpPr/>
          <p:nvPr/>
        </p:nvCxnSpPr>
        <p:spPr>
          <a:xfrm>
            <a:off x="4663440" y="3310128"/>
            <a:ext cx="4023360" cy="0"/>
          </a:xfrm>
          <a:prstGeom prst="straightConnector1">
            <a:avLst/>
          </a:prstGeom>
          <a:noFill/>
          <a:ln cap="flat" cmpd="sng" w="10150">
            <a:solidFill>
              <a:srgbClr val="7B5EA7"/>
            </a:solidFill>
            <a:prstDash val="solid"/>
            <a:round/>
            <a:headEnd len="sm" w="sm" type="none"/>
            <a:tailEnd len="sm" w="sm" type="none"/>
          </a:ln>
        </p:spPr>
      </p:cxnSp>
      <p:sp>
        <p:nvSpPr>
          <p:cNvPr id="114" name="Google Shape;114;p7"/>
          <p:cNvSpPr/>
          <p:nvPr/>
        </p:nvSpPr>
        <p:spPr>
          <a:xfrm>
            <a:off x="4800600" y="3364992"/>
            <a:ext cx="37490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100"/>
              <a:buFont typeface="Calibri"/>
              <a:buNone/>
            </a:pPr>
            <a:r>
              <a:rPr i="0" lang="en-US" sz="1100" u="none" cap="none" strike="noStrike">
                <a:solidFill>
                  <a:srgbClr val="FFFFFF"/>
                </a:solidFill>
                <a:latin typeface="Lato"/>
                <a:ea typeface="Lato"/>
                <a:cs typeface="Lato"/>
                <a:sym typeface="Lato"/>
              </a:rPr>
              <a:t>3CX integration, website, ticketing, and reporting setup</a:t>
            </a:r>
            <a:endParaRPr i="0" sz="1100" u="none" cap="none" strike="noStrike">
              <a:solidFill>
                <a:srgbClr val="FFFFFF"/>
              </a:solidFill>
              <a:latin typeface="Lato"/>
              <a:ea typeface="Lato"/>
              <a:cs typeface="Lato"/>
              <a:sym typeface="Lato"/>
            </a:endParaRPr>
          </a:p>
        </p:txBody>
      </p:sp>
      <p:sp>
        <p:nvSpPr>
          <p:cNvPr id="115" name="Google Shape;115;p7"/>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116" name="Google Shape;116;p7"/>
          <p:cNvCxnSpPr>
            <a:endCxn id="115"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117" name="Google Shape;117;p7"/>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2040"/>
        </a:solidFill>
      </p:bgPr>
    </p:bg>
    <p:spTree>
      <p:nvGrpSpPr>
        <p:cNvPr id="122" name="Shape 122"/>
        <p:cNvGrpSpPr/>
        <p:nvPr/>
      </p:nvGrpSpPr>
      <p:grpSpPr>
        <a:xfrm>
          <a:off x="0" y="0"/>
          <a:ext cx="0" cy="0"/>
          <a:chOff x="0" y="0"/>
          <a:chExt cx="0" cy="0"/>
        </a:xfrm>
      </p:grpSpPr>
      <p:sp>
        <p:nvSpPr>
          <p:cNvPr id="123" name="Google Shape;123;p8"/>
          <p:cNvSpPr/>
          <p:nvPr/>
        </p:nvSpPr>
        <p:spPr>
          <a:xfrm>
            <a:off x="457200" y="256032"/>
            <a:ext cx="82296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Lato"/>
                <a:ea typeface="Lato"/>
                <a:cs typeface="Lato"/>
                <a:sym typeface="Lato"/>
              </a:rPr>
              <a:t>What We've Observed So Far</a:t>
            </a:r>
            <a:endParaRPr i="0" sz="2400" u="none" cap="none" strike="noStrike">
              <a:solidFill>
                <a:srgbClr val="FFFFFF"/>
              </a:solidFill>
              <a:latin typeface="Lato"/>
              <a:ea typeface="Lato"/>
              <a:cs typeface="Lato"/>
              <a:sym typeface="Lato"/>
            </a:endParaRPr>
          </a:p>
        </p:txBody>
      </p:sp>
      <p:sp>
        <p:nvSpPr>
          <p:cNvPr id="124" name="Google Shape;124;p8"/>
          <p:cNvSpPr/>
          <p:nvPr/>
        </p:nvSpPr>
        <p:spPr>
          <a:xfrm>
            <a:off x="45720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1100"/>
              <a:buFont typeface="Calibri"/>
              <a:buNone/>
            </a:pPr>
            <a:r>
              <a:rPr i="0" lang="en-US" sz="1100" u="none" cap="none" strike="noStrike">
                <a:solidFill>
                  <a:srgbClr val="FFFFFF"/>
                </a:solidFill>
                <a:latin typeface="Lato"/>
                <a:ea typeface="Lato"/>
                <a:cs typeface="Lato"/>
                <a:sym typeface="Lato"/>
              </a:rPr>
              <a:t>Based on our discovery conversations </a:t>
            </a:r>
            <a:r>
              <a:rPr lang="en-US" sz="1100">
                <a:solidFill>
                  <a:srgbClr val="FFFFFF"/>
                </a:solidFill>
                <a:latin typeface="Lato"/>
                <a:ea typeface="Lato"/>
                <a:cs typeface="Lato"/>
                <a:sym typeface="Lato"/>
              </a:rPr>
              <a:t>-</a:t>
            </a:r>
            <a:r>
              <a:rPr i="0" lang="en-US" sz="1100" u="none" cap="none" strike="noStrike">
                <a:solidFill>
                  <a:srgbClr val="FFFFFF"/>
                </a:solidFill>
                <a:latin typeface="Lato"/>
                <a:ea typeface="Lato"/>
                <a:cs typeface="Lato"/>
                <a:sym typeface="Lato"/>
              </a:rPr>
              <a:t> we'd like to validate each of these with you today.</a:t>
            </a:r>
            <a:endParaRPr i="0" sz="1100" u="none" cap="none" strike="noStrike">
              <a:solidFill>
                <a:srgbClr val="FFFFFF"/>
              </a:solidFill>
              <a:latin typeface="Lato"/>
              <a:ea typeface="Lato"/>
              <a:cs typeface="Lato"/>
              <a:sym typeface="Lato"/>
            </a:endParaRPr>
          </a:p>
        </p:txBody>
      </p:sp>
      <p:sp>
        <p:nvSpPr>
          <p:cNvPr id="125" name="Google Shape;125;p8"/>
          <p:cNvSpPr/>
          <p:nvPr/>
        </p:nvSpPr>
        <p:spPr>
          <a:xfrm>
            <a:off x="320040" y="987552"/>
            <a:ext cx="2743200" cy="3794760"/>
          </a:xfrm>
          <a:prstGeom prst="roundRect">
            <a:avLst>
              <a:gd fmla="val 2667"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484620" y="1115575"/>
            <a:ext cx="8034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2200"/>
              <a:buFont typeface="Calibri"/>
              <a:buNone/>
            </a:pPr>
            <a:r>
              <a:rPr b="1" i="0" lang="en-US" sz="2200" u="none" cap="none" strike="noStrike">
                <a:solidFill>
                  <a:srgbClr val="7B5EA7"/>
                </a:solidFill>
                <a:latin typeface="Lato"/>
                <a:ea typeface="Lato"/>
                <a:cs typeface="Lato"/>
                <a:sym typeface="Lato"/>
              </a:rPr>
              <a:t>O1</a:t>
            </a:r>
            <a:endParaRPr i="0" sz="2200" u="none" cap="none" strike="noStrike">
              <a:solidFill>
                <a:schemeClr val="dk1"/>
              </a:solidFill>
              <a:latin typeface="Lato"/>
              <a:ea typeface="Lato"/>
              <a:cs typeface="Lato"/>
              <a:sym typeface="Lato"/>
            </a:endParaRPr>
          </a:p>
        </p:txBody>
      </p:sp>
      <p:sp>
        <p:nvSpPr>
          <p:cNvPr id="127" name="Google Shape;127;p8"/>
          <p:cNvSpPr/>
          <p:nvPr/>
        </p:nvSpPr>
        <p:spPr>
          <a:xfrm>
            <a:off x="484632" y="1508760"/>
            <a:ext cx="24231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Lato"/>
                <a:ea typeface="Lato"/>
                <a:cs typeface="Lato"/>
                <a:sym typeface="Lato"/>
              </a:rPr>
              <a:t>The portal is significantly more broken than standard</a:t>
            </a:r>
            <a:endParaRPr i="0" sz="1100" u="none" cap="none" strike="noStrike">
              <a:solidFill>
                <a:srgbClr val="FFFFFF"/>
              </a:solidFill>
              <a:latin typeface="Lato"/>
              <a:ea typeface="Lato"/>
              <a:cs typeface="Lato"/>
              <a:sym typeface="Lato"/>
            </a:endParaRPr>
          </a:p>
        </p:txBody>
      </p:sp>
      <p:sp>
        <p:nvSpPr>
          <p:cNvPr id="128" name="Google Shape;128;p8"/>
          <p:cNvSpPr/>
          <p:nvPr/>
        </p:nvSpPr>
        <p:spPr>
          <a:xfrm>
            <a:off x="484632" y="2011680"/>
            <a:ext cx="2423160" cy="1691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rgbClr val="FFFFFF"/>
                </a:solidFill>
                <a:latin typeface="Lato"/>
                <a:ea typeface="Lato"/>
                <a:cs typeface="Lato"/>
                <a:sym typeface="Lato"/>
              </a:rPr>
              <a:t>We are coming in to a portal with 35+ workflows, 8 with active errors, contacts assigned to people who have left the business, and nearly 15,000 records with no classification at all. This is not a configuration problem </a:t>
            </a:r>
            <a:r>
              <a:rPr lang="en-US" sz="950">
                <a:solidFill>
                  <a:srgbClr val="FFFFFF"/>
                </a:solidFill>
                <a:latin typeface="Lato"/>
                <a:ea typeface="Lato"/>
                <a:cs typeface="Lato"/>
                <a:sym typeface="Lato"/>
              </a:rPr>
              <a:t>-</a:t>
            </a:r>
            <a:r>
              <a:rPr i="0" lang="en-US" sz="950" u="none" cap="none" strike="noStrike">
                <a:solidFill>
                  <a:srgbClr val="FFFFFF"/>
                </a:solidFill>
                <a:latin typeface="Lato"/>
                <a:ea typeface="Lato"/>
                <a:cs typeface="Lato"/>
                <a:sym typeface="Lato"/>
              </a:rPr>
              <a:t> it is a foundations problem. The audit in Week 1 will tell us exactly what we are working with.</a:t>
            </a:r>
            <a:endParaRPr i="0" sz="950" u="none" cap="none" strike="noStrike">
              <a:solidFill>
                <a:srgbClr val="FFFFFF"/>
              </a:solidFill>
              <a:latin typeface="Lato"/>
              <a:ea typeface="Lato"/>
              <a:cs typeface="Lato"/>
              <a:sym typeface="Lato"/>
            </a:endParaRPr>
          </a:p>
        </p:txBody>
      </p:sp>
      <p:cxnSp>
        <p:nvCxnSpPr>
          <p:cNvPr id="129" name="Google Shape;129;p8"/>
          <p:cNvCxnSpPr/>
          <p:nvPr/>
        </p:nvCxnSpPr>
        <p:spPr>
          <a:xfrm>
            <a:off x="484632" y="3749040"/>
            <a:ext cx="2423160" cy="0"/>
          </a:xfrm>
          <a:prstGeom prst="straightConnector1">
            <a:avLst/>
          </a:prstGeom>
          <a:noFill/>
          <a:ln cap="flat" cmpd="sng" w="9525">
            <a:solidFill>
              <a:srgbClr val="1E2A4A"/>
            </a:solidFill>
            <a:prstDash val="solid"/>
            <a:round/>
            <a:headEnd len="sm" w="sm" type="none"/>
            <a:tailEnd len="sm" w="sm" type="none"/>
          </a:ln>
        </p:spPr>
      </p:cxnSp>
      <p:sp>
        <p:nvSpPr>
          <p:cNvPr id="130" name="Google Shape;130;p8"/>
          <p:cNvSpPr/>
          <p:nvPr/>
        </p:nvSpPr>
        <p:spPr>
          <a:xfrm>
            <a:off x="484632" y="3803904"/>
            <a:ext cx="2423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900"/>
              <a:buFont typeface="Calibri"/>
              <a:buNone/>
            </a:pPr>
            <a:r>
              <a:rPr i="1" lang="en-US" sz="900" u="none" cap="none" strike="noStrike">
                <a:solidFill>
                  <a:srgbClr val="FFFFFF"/>
                </a:solidFill>
                <a:latin typeface="Lato"/>
                <a:ea typeface="Lato"/>
                <a:cs typeface="Lato"/>
                <a:sym typeface="Lato"/>
              </a:rPr>
              <a:t>Of the workflows currently in HubSpot, how many does the team actively use day-to-day — versus ones set up historically that may no longer be relevant?</a:t>
            </a:r>
            <a:endParaRPr i="0" sz="900" u="none" cap="none" strike="noStrike">
              <a:solidFill>
                <a:srgbClr val="FFFFFF"/>
              </a:solidFill>
              <a:latin typeface="Lato"/>
              <a:ea typeface="Lato"/>
              <a:cs typeface="Lato"/>
              <a:sym typeface="Lato"/>
            </a:endParaRPr>
          </a:p>
        </p:txBody>
      </p:sp>
      <p:sp>
        <p:nvSpPr>
          <p:cNvPr id="131" name="Google Shape;131;p8"/>
          <p:cNvSpPr/>
          <p:nvPr/>
        </p:nvSpPr>
        <p:spPr>
          <a:xfrm>
            <a:off x="3200400" y="987552"/>
            <a:ext cx="2743200" cy="3794760"/>
          </a:xfrm>
          <a:prstGeom prst="roundRect">
            <a:avLst>
              <a:gd fmla="val 2667"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3365003" y="1115575"/>
            <a:ext cx="6312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2200"/>
              <a:buFont typeface="Calibri"/>
              <a:buNone/>
            </a:pPr>
            <a:r>
              <a:rPr b="1" i="0" lang="en-US" sz="2200" u="none" cap="none" strike="noStrike">
                <a:solidFill>
                  <a:srgbClr val="7B5EA7"/>
                </a:solidFill>
                <a:latin typeface="Lato"/>
                <a:ea typeface="Lato"/>
                <a:cs typeface="Lato"/>
                <a:sym typeface="Lato"/>
              </a:rPr>
              <a:t>O2</a:t>
            </a:r>
            <a:endParaRPr i="0" sz="2200" u="none" cap="none" strike="noStrike">
              <a:solidFill>
                <a:schemeClr val="dk1"/>
              </a:solidFill>
              <a:latin typeface="Lato"/>
              <a:ea typeface="Lato"/>
              <a:cs typeface="Lato"/>
              <a:sym typeface="Lato"/>
            </a:endParaRPr>
          </a:p>
        </p:txBody>
      </p:sp>
      <p:sp>
        <p:nvSpPr>
          <p:cNvPr id="133" name="Google Shape;133;p8"/>
          <p:cNvSpPr/>
          <p:nvPr/>
        </p:nvSpPr>
        <p:spPr>
          <a:xfrm>
            <a:off x="3364992" y="1508760"/>
            <a:ext cx="24231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Lato"/>
                <a:ea typeface="Lato"/>
                <a:cs typeface="Lato"/>
                <a:sym typeface="Lato"/>
              </a:rPr>
              <a:t>The sales team has deep resistance to HubSpot</a:t>
            </a:r>
            <a:endParaRPr i="0" sz="1100" u="none" cap="none" strike="noStrike">
              <a:solidFill>
                <a:srgbClr val="FFFFFF"/>
              </a:solidFill>
              <a:latin typeface="Lato"/>
              <a:ea typeface="Lato"/>
              <a:cs typeface="Lato"/>
              <a:sym typeface="Lato"/>
            </a:endParaRPr>
          </a:p>
        </p:txBody>
      </p:sp>
      <p:sp>
        <p:nvSpPr>
          <p:cNvPr id="134" name="Google Shape;134;p8"/>
          <p:cNvSpPr/>
          <p:nvPr/>
        </p:nvSpPr>
        <p:spPr>
          <a:xfrm>
            <a:off x="3364992" y="2011680"/>
            <a:ext cx="2423160" cy="1691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rgbClr val="FFFFFF"/>
                </a:solidFill>
                <a:latin typeface="Lato"/>
                <a:ea typeface="Lato"/>
                <a:cs typeface="Lato"/>
                <a:sym typeface="Lato"/>
              </a:rPr>
              <a:t>The previous training was described as eight hours the team will never get back. There is at least one confirmed tech-resistant team member, and the field reps are not logging calls or activity consistently. Adoption will not come from another all-hands training session </a:t>
            </a:r>
            <a:r>
              <a:rPr lang="en-US" sz="950">
                <a:solidFill>
                  <a:srgbClr val="FFFFFF"/>
                </a:solidFill>
                <a:latin typeface="Lato"/>
                <a:ea typeface="Lato"/>
                <a:cs typeface="Lato"/>
                <a:sym typeface="Lato"/>
              </a:rPr>
              <a:t>-</a:t>
            </a:r>
            <a:r>
              <a:rPr i="0" lang="en-US" sz="950" u="none" cap="none" strike="noStrike">
                <a:solidFill>
                  <a:srgbClr val="FFFFFF"/>
                </a:solidFill>
                <a:latin typeface="Lato"/>
                <a:ea typeface="Lato"/>
                <a:cs typeface="Lato"/>
                <a:sym typeface="Lato"/>
              </a:rPr>
              <a:t> it needs a different approach entirely.</a:t>
            </a:r>
            <a:endParaRPr i="0" sz="950" u="none" cap="none" strike="noStrike">
              <a:solidFill>
                <a:srgbClr val="FFFFFF"/>
              </a:solidFill>
              <a:latin typeface="Lato"/>
              <a:ea typeface="Lato"/>
              <a:cs typeface="Lato"/>
              <a:sym typeface="Lato"/>
            </a:endParaRPr>
          </a:p>
        </p:txBody>
      </p:sp>
      <p:cxnSp>
        <p:nvCxnSpPr>
          <p:cNvPr id="135" name="Google Shape;135;p8"/>
          <p:cNvCxnSpPr/>
          <p:nvPr/>
        </p:nvCxnSpPr>
        <p:spPr>
          <a:xfrm>
            <a:off x="3364992" y="3749040"/>
            <a:ext cx="2423160" cy="0"/>
          </a:xfrm>
          <a:prstGeom prst="straightConnector1">
            <a:avLst/>
          </a:prstGeom>
          <a:noFill/>
          <a:ln cap="flat" cmpd="sng" w="9525">
            <a:solidFill>
              <a:srgbClr val="1E2A4A"/>
            </a:solidFill>
            <a:prstDash val="solid"/>
            <a:round/>
            <a:headEnd len="sm" w="sm" type="none"/>
            <a:tailEnd len="sm" w="sm" type="none"/>
          </a:ln>
        </p:spPr>
      </p:cxnSp>
      <p:sp>
        <p:nvSpPr>
          <p:cNvPr id="136" name="Google Shape;136;p8"/>
          <p:cNvSpPr/>
          <p:nvPr/>
        </p:nvSpPr>
        <p:spPr>
          <a:xfrm>
            <a:off x="3364992" y="3803904"/>
            <a:ext cx="2423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900"/>
              <a:buFont typeface="Calibri"/>
              <a:buNone/>
            </a:pPr>
            <a:r>
              <a:rPr i="1" lang="en-US" sz="900" u="none" cap="none" strike="noStrike">
                <a:solidFill>
                  <a:srgbClr val="FFFFFF"/>
                </a:solidFill>
                <a:latin typeface="Lato"/>
                <a:ea typeface="Lato"/>
                <a:cs typeface="Lato"/>
                <a:sym typeface="Lato"/>
              </a:rPr>
              <a:t>When we run adoption sessions with the sales team, what format tends to work best — one-to-one walkthroughs, small group sessions, or something else?</a:t>
            </a:r>
            <a:endParaRPr i="0" sz="900" u="none" cap="none" strike="noStrike">
              <a:solidFill>
                <a:srgbClr val="FFFFFF"/>
              </a:solidFill>
              <a:latin typeface="Lato"/>
              <a:ea typeface="Lato"/>
              <a:cs typeface="Lato"/>
              <a:sym typeface="Lato"/>
            </a:endParaRPr>
          </a:p>
        </p:txBody>
      </p:sp>
      <p:sp>
        <p:nvSpPr>
          <p:cNvPr id="137" name="Google Shape;137;p8"/>
          <p:cNvSpPr/>
          <p:nvPr/>
        </p:nvSpPr>
        <p:spPr>
          <a:xfrm>
            <a:off x="6080760" y="987552"/>
            <a:ext cx="2743200" cy="3794760"/>
          </a:xfrm>
          <a:prstGeom prst="roundRect">
            <a:avLst>
              <a:gd fmla="val 2667"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6245349" y="1115575"/>
            <a:ext cx="5859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2200"/>
              <a:buFont typeface="Calibri"/>
              <a:buNone/>
            </a:pPr>
            <a:r>
              <a:rPr b="1" i="0" lang="en-US" sz="2200" u="none" cap="none" strike="noStrike">
                <a:solidFill>
                  <a:srgbClr val="7B5EA7"/>
                </a:solidFill>
                <a:latin typeface="Lato"/>
                <a:ea typeface="Lato"/>
                <a:cs typeface="Lato"/>
                <a:sym typeface="Lato"/>
              </a:rPr>
              <a:t>O3</a:t>
            </a:r>
            <a:endParaRPr i="0" sz="2200" u="none" cap="none" strike="noStrike">
              <a:solidFill>
                <a:schemeClr val="dk1"/>
              </a:solidFill>
              <a:latin typeface="Lato"/>
              <a:ea typeface="Lato"/>
              <a:cs typeface="Lato"/>
              <a:sym typeface="Lato"/>
            </a:endParaRPr>
          </a:p>
        </p:txBody>
      </p:sp>
      <p:sp>
        <p:nvSpPr>
          <p:cNvPr id="139" name="Google Shape;139;p8"/>
          <p:cNvSpPr/>
          <p:nvPr/>
        </p:nvSpPr>
        <p:spPr>
          <a:xfrm>
            <a:off x="6245352" y="1508760"/>
            <a:ext cx="24231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Lato"/>
                <a:ea typeface="Lato"/>
                <a:cs typeface="Lato"/>
                <a:sym typeface="Lato"/>
              </a:rPr>
              <a:t>Technical support is a hidden revenue leak</a:t>
            </a:r>
            <a:endParaRPr i="0" sz="1100" u="none" cap="none" strike="noStrike">
              <a:solidFill>
                <a:srgbClr val="FFFFFF"/>
              </a:solidFill>
              <a:latin typeface="Lato"/>
              <a:ea typeface="Lato"/>
              <a:cs typeface="Lato"/>
              <a:sym typeface="Lato"/>
            </a:endParaRPr>
          </a:p>
        </p:txBody>
      </p:sp>
      <p:sp>
        <p:nvSpPr>
          <p:cNvPr id="140" name="Google Shape;140;p8"/>
          <p:cNvSpPr/>
          <p:nvPr/>
        </p:nvSpPr>
        <p:spPr>
          <a:xfrm>
            <a:off x="6245352" y="2011680"/>
            <a:ext cx="2423160" cy="1691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rgbClr val="FFFFFF"/>
                </a:solidFill>
                <a:latin typeface="Lato"/>
                <a:ea typeface="Lato"/>
                <a:cs typeface="Lato"/>
                <a:sym typeface="Lato"/>
              </a:rPr>
              <a:t>Approximately 1,200 technical enquiries arrive every month. Response time is running at 5-7 days against a 24-hour SLA. Robert estimated over 50% may be going unanswered. Headcount has doubled </a:t>
            </a:r>
            <a:r>
              <a:rPr lang="en-US" sz="950">
                <a:solidFill>
                  <a:srgbClr val="FFFFFF"/>
                </a:solidFill>
                <a:latin typeface="Lato"/>
                <a:ea typeface="Lato"/>
                <a:cs typeface="Lato"/>
                <a:sym typeface="Lato"/>
              </a:rPr>
              <a:t>-</a:t>
            </a:r>
            <a:r>
              <a:rPr i="0" lang="en-US" sz="950" u="none" cap="none" strike="noStrike">
                <a:solidFill>
                  <a:srgbClr val="FFFFFF"/>
                </a:solidFill>
                <a:latin typeface="Lato"/>
                <a:ea typeface="Lato"/>
                <a:cs typeface="Lato"/>
                <a:sym typeface="Lato"/>
              </a:rPr>
              <a:t> but the backlog has grown, not shrunk. This is not a staffing issue. It is a visibility and process issue.</a:t>
            </a:r>
            <a:endParaRPr i="0" sz="950" u="none" cap="none" strike="noStrike">
              <a:solidFill>
                <a:srgbClr val="FFFFFF"/>
              </a:solidFill>
              <a:latin typeface="Lato"/>
              <a:ea typeface="Lato"/>
              <a:cs typeface="Lato"/>
              <a:sym typeface="Lato"/>
            </a:endParaRPr>
          </a:p>
        </p:txBody>
      </p:sp>
      <p:cxnSp>
        <p:nvCxnSpPr>
          <p:cNvPr id="141" name="Google Shape;141;p8"/>
          <p:cNvCxnSpPr/>
          <p:nvPr/>
        </p:nvCxnSpPr>
        <p:spPr>
          <a:xfrm>
            <a:off x="6245352" y="3749040"/>
            <a:ext cx="2423160" cy="0"/>
          </a:xfrm>
          <a:prstGeom prst="straightConnector1">
            <a:avLst/>
          </a:prstGeom>
          <a:noFill/>
          <a:ln cap="flat" cmpd="sng" w="9525">
            <a:solidFill>
              <a:srgbClr val="1E2A4A"/>
            </a:solidFill>
            <a:prstDash val="solid"/>
            <a:round/>
            <a:headEnd len="sm" w="sm" type="none"/>
            <a:tailEnd len="sm" w="sm" type="none"/>
          </a:ln>
        </p:spPr>
      </p:cxnSp>
      <p:sp>
        <p:nvSpPr>
          <p:cNvPr id="142" name="Google Shape;142;p8"/>
          <p:cNvSpPr/>
          <p:nvPr/>
        </p:nvSpPr>
        <p:spPr>
          <a:xfrm>
            <a:off x="6245352" y="3803904"/>
            <a:ext cx="2423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900"/>
              <a:buFont typeface="Calibri"/>
              <a:buNone/>
            </a:pPr>
            <a:r>
              <a:rPr i="1" lang="en-US" sz="900" u="none" cap="none" strike="noStrike">
                <a:solidFill>
                  <a:srgbClr val="FFFFFF"/>
                </a:solidFill>
                <a:latin typeface="Lato"/>
                <a:ea typeface="Lato"/>
                <a:cs typeface="Lato"/>
                <a:sym typeface="Lato"/>
              </a:rPr>
              <a:t>Is there currently any way of tracking which technical support enquiries get a response and which ones fall through </a:t>
            </a:r>
            <a:r>
              <a:rPr i="1" lang="en-US" sz="900">
                <a:solidFill>
                  <a:srgbClr val="FFFFFF"/>
                </a:solidFill>
                <a:latin typeface="Lato"/>
                <a:ea typeface="Lato"/>
                <a:cs typeface="Lato"/>
                <a:sym typeface="Lato"/>
              </a:rPr>
              <a:t>-</a:t>
            </a:r>
            <a:r>
              <a:rPr i="1" lang="en-US" sz="900" u="none" cap="none" strike="noStrike">
                <a:solidFill>
                  <a:srgbClr val="FFFFFF"/>
                </a:solidFill>
                <a:latin typeface="Lato"/>
                <a:ea typeface="Lato"/>
                <a:cs typeface="Lato"/>
                <a:sym typeface="Lato"/>
              </a:rPr>
              <a:t> even informally?</a:t>
            </a:r>
            <a:endParaRPr i="0" sz="900" u="none" cap="none" strike="noStrike">
              <a:solidFill>
                <a:srgbClr val="FFFFFF"/>
              </a:solidFill>
              <a:latin typeface="Lato"/>
              <a:ea typeface="Lato"/>
              <a:cs typeface="Lato"/>
              <a:sym typeface="Lato"/>
            </a:endParaRPr>
          </a:p>
        </p:txBody>
      </p:sp>
      <p:sp>
        <p:nvSpPr>
          <p:cNvPr id="143" name="Google Shape;143;p8"/>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144" name="Google Shape;144;p8"/>
          <p:cNvCxnSpPr>
            <a:endCxn id="143"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145" name="Google Shape;145;p8"/>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628"/>
        </a:solidFill>
      </p:bgPr>
    </p:bg>
    <p:spTree>
      <p:nvGrpSpPr>
        <p:cNvPr id="150" name="Shape 150"/>
        <p:cNvGrpSpPr/>
        <p:nvPr/>
      </p:nvGrpSpPr>
      <p:grpSpPr>
        <a:xfrm>
          <a:off x="0" y="0"/>
          <a:ext cx="0" cy="0"/>
          <a:chOff x="0" y="0"/>
          <a:chExt cx="0" cy="0"/>
        </a:xfrm>
      </p:grpSpPr>
      <p:sp>
        <p:nvSpPr>
          <p:cNvPr id="151" name="Google Shape;151;p9"/>
          <p:cNvSpPr/>
          <p:nvPr/>
        </p:nvSpPr>
        <p:spPr>
          <a:xfrm>
            <a:off x="457200" y="256032"/>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900"/>
              <a:buFont typeface="Calibri"/>
              <a:buNone/>
            </a:pPr>
            <a:r>
              <a:rPr b="1" i="0" lang="en-US" sz="900" u="none" cap="none" strike="noStrike">
                <a:solidFill>
                  <a:srgbClr val="7B5EA7"/>
                </a:solidFill>
                <a:latin typeface="Lato"/>
                <a:ea typeface="Lato"/>
                <a:cs typeface="Lato"/>
                <a:sym typeface="Lato"/>
              </a:rPr>
              <a:t>FOR VALIDATION TODAY</a:t>
            </a:r>
            <a:endParaRPr i="0" sz="900" u="none" cap="none" strike="noStrike">
              <a:solidFill>
                <a:schemeClr val="dk1"/>
              </a:solidFill>
              <a:latin typeface="Lato"/>
              <a:ea typeface="Lato"/>
              <a:cs typeface="Lato"/>
              <a:sym typeface="Lato"/>
            </a:endParaRPr>
          </a:p>
        </p:txBody>
      </p:sp>
      <p:sp>
        <p:nvSpPr>
          <p:cNvPr id="152" name="Google Shape;152;p9"/>
          <p:cNvSpPr/>
          <p:nvPr/>
        </p:nvSpPr>
        <p:spPr>
          <a:xfrm>
            <a:off x="457200" y="502920"/>
            <a:ext cx="82296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Lato"/>
                <a:ea typeface="Lato"/>
                <a:cs typeface="Lato"/>
                <a:sym typeface="Lato"/>
              </a:rPr>
              <a:t>Proposed Metrics </a:t>
            </a:r>
            <a:r>
              <a:rPr b="1" lang="en-US" sz="2400">
                <a:solidFill>
                  <a:srgbClr val="FFFFFF"/>
                </a:solidFill>
                <a:latin typeface="Lato"/>
                <a:ea typeface="Lato"/>
                <a:cs typeface="Lato"/>
                <a:sym typeface="Lato"/>
              </a:rPr>
              <a:t>-</a:t>
            </a:r>
            <a:r>
              <a:rPr b="1" i="0" lang="en-US" sz="2400" u="none" cap="none" strike="noStrike">
                <a:solidFill>
                  <a:srgbClr val="FFFFFF"/>
                </a:solidFill>
                <a:latin typeface="Lato"/>
                <a:ea typeface="Lato"/>
                <a:cs typeface="Lato"/>
                <a:sym typeface="Lato"/>
              </a:rPr>
              <a:t> Revenue Roadmap</a:t>
            </a:r>
            <a:endParaRPr i="0" sz="2400" u="none" cap="none" strike="noStrike">
              <a:solidFill>
                <a:srgbClr val="FFFFFF"/>
              </a:solidFill>
              <a:latin typeface="Lato"/>
              <a:ea typeface="Lato"/>
              <a:cs typeface="Lato"/>
              <a:sym typeface="Lato"/>
            </a:endParaRPr>
          </a:p>
        </p:txBody>
      </p:sp>
      <p:sp>
        <p:nvSpPr>
          <p:cNvPr id="153" name="Google Shape;153;p9"/>
          <p:cNvSpPr/>
          <p:nvPr/>
        </p:nvSpPr>
        <p:spPr>
          <a:xfrm>
            <a:off x="457200" y="987552"/>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1100"/>
              <a:buFont typeface="Calibri"/>
              <a:buNone/>
            </a:pPr>
            <a:r>
              <a:rPr i="0" lang="en-US" sz="1100" u="none" cap="none" strike="noStrike">
                <a:solidFill>
                  <a:srgbClr val="FFFFFF"/>
                </a:solidFill>
                <a:latin typeface="Lato"/>
                <a:ea typeface="Lato"/>
                <a:cs typeface="Lato"/>
                <a:sym typeface="Lato"/>
              </a:rPr>
              <a:t>These are the metrics we believe matter most. We confirm the numbers together today </a:t>
            </a:r>
            <a:r>
              <a:rPr lang="en-US" sz="1100">
                <a:solidFill>
                  <a:srgbClr val="FFFFFF"/>
                </a:solidFill>
                <a:latin typeface="Lato"/>
                <a:ea typeface="Lato"/>
                <a:cs typeface="Lato"/>
                <a:sym typeface="Lato"/>
              </a:rPr>
              <a:t>-</a:t>
            </a:r>
            <a:r>
              <a:rPr i="0" lang="en-US" sz="1100" u="none" cap="none" strike="noStrike">
                <a:solidFill>
                  <a:srgbClr val="FFFFFF"/>
                </a:solidFill>
                <a:latin typeface="Lato"/>
                <a:ea typeface="Lato"/>
                <a:cs typeface="Lato"/>
                <a:sym typeface="Lato"/>
              </a:rPr>
              <a:t> they become the Roadmap we steer by.</a:t>
            </a:r>
            <a:endParaRPr i="0" sz="1100" u="none" cap="none" strike="noStrike">
              <a:solidFill>
                <a:srgbClr val="FFFFFF"/>
              </a:solidFill>
              <a:latin typeface="Lato"/>
              <a:ea typeface="Lato"/>
              <a:cs typeface="Lato"/>
              <a:sym typeface="Lato"/>
            </a:endParaRPr>
          </a:p>
        </p:txBody>
      </p:sp>
      <p:sp>
        <p:nvSpPr>
          <p:cNvPr id="154" name="Google Shape;154;p9"/>
          <p:cNvSpPr/>
          <p:nvPr/>
        </p:nvSpPr>
        <p:spPr>
          <a:xfrm>
            <a:off x="365760" y="1417320"/>
            <a:ext cx="8412480" cy="320040"/>
          </a:xfrm>
          <a:prstGeom prst="rect">
            <a:avLst/>
          </a:prstGeom>
          <a:solidFill>
            <a:srgbClr val="1E2A4A"/>
          </a:solidFill>
          <a:ln cap="flat" cmpd="sng" w="12700">
            <a:solidFill>
              <a:srgbClr val="1E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155" name="Google Shape;155;p9"/>
          <p:cNvSpPr/>
          <p:nvPr/>
        </p:nvSpPr>
        <p:spPr>
          <a:xfrm>
            <a:off x="457200" y="1472184"/>
            <a:ext cx="26517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000"/>
              <a:buFont typeface="Calibri"/>
              <a:buNone/>
            </a:pPr>
            <a:r>
              <a:rPr b="1" i="0" lang="en-US" sz="1000" u="none" cap="none" strike="noStrike">
                <a:solidFill>
                  <a:srgbClr val="7B5EA7"/>
                </a:solidFill>
                <a:latin typeface="Lato"/>
                <a:ea typeface="Lato"/>
                <a:cs typeface="Lato"/>
                <a:sym typeface="Lato"/>
              </a:rPr>
              <a:t>Metric</a:t>
            </a:r>
            <a:endParaRPr i="0" sz="1000" u="none" cap="none" strike="noStrike">
              <a:solidFill>
                <a:schemeClr val="dk1"/>
              </a:solidFill>
              <a:latin typeface="Lato"/>
              <a:ea typeface="Lato"/>
              <a:cs typeface="Lato"/>
              <a:sym typeface="Lato"/>
            </a:endParaRPr>
          </a:p>
        </p:txBody>
      </p:sp>
      <p:sp>
        <p:nvSpPr>
          <p:cNvPr id="156" name="Google Shape;156;p9"/>
          <p:cNvSpPr/>
          <p:nvPr/>
        </p:nvSpPr>
        <p:spPr>
          <a:xfrm>
            <a:off x="3200400" y="1472184"/>
            <a:ext cx="15544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000"/>
              <a:buFont typeface="Calibri"/>
              <a:buNone/>
            </a:pPr>
            <a:r>
              <a:rPr b="1" i="0" lang="en-US" sz="1000" u="none" cap="none" strike="noStrike">
                <a:solidFill>
                  <a:srgbClr val="7B5EA7"/>
                </a:solidFill>
                <a:latin typeface="Lato"/>
                <a:ea typeface="Lato"/>
                <a:cs typeface="Lato"/>
                <a:sym typeface="Lato"/>
              </a:rPr>
              <a:t>Current</a:t>
            </a:r>
            <a:endParaRPr i="0" sz="1000" u="none" cap="none" strike="noStrike">
              <a:solidFill>
                <a:schemeClr val="dk1"/>
              </a:solidFill>
              <a:latin typeface="Lato"/>
              <a:ea typeface="Lato"/>
              <a:cs typeface="Lato"/>
              <a:sym typeface="Lato"/>
            </a:endParaRPr>
          </a:p>
        </p:txBody>
      </p:sp>
      <p:sp>
        <p:nvSpPr>
          <p:cNvPr id="157" name="Google Shape;157;p9"/>
          <p:cNvSpPr/>
          <p:nvPr/>
        </p:nvSpPr>
        <p:spPr>
          <a:xfrm>
            <a:off x="4846320" y="1472184"/>
            <a:ext cx="16459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000"/>
              <a:buFont typeface="Calibri"/>
              <a:buNone/>
            </a:pPr>
            <a:r>
              <a:rPr b="1" i="0" lang="en-US" sz="1000" u="none" cap="none" strike="noStrike">
                <a:solidFill>
                  <a:srgbClr val="7B5EA7"/>
                </a:solidFill>
                <a:latin typeface="Lato"/>
                <a:ea typeface="Lato"/>
                <a:cs typeface="Lato"/>
                <a:sym typeface="Lato"/>
              </a:rPr>
              <a:t>Target</a:t>
            </a:r>
            <a:endParaRPr i="0" sz="1000" u="none" cap="none" strike="noStrike">
              <a:solidFill>
                <a:schemeClr val="dk1"/>
              </a:solidFill>
              <a:latin typeface="Lato"/>
              <a:ea typeface="Lato"/>
              <a:cs typeface="Lato"/>
              <a:sym typeface="Lato"/>
            </a:endParaRPr>
          </a:p>
        </p:txBody>
      </p:sp>
      <p:sp>
        <p:nvSpPr>
          <p:cNvPr id="158" name="Google Shape;158;p9"/>
          <p:cNvSpPr/>
          <p:nvPr/>
        </p:nvSpPr>
        <p:spPr>
          <a:xfrm>
            <a:off x="6583680" y="1472184"/>
            <a:ext cx="1371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000"/>
              <a:buFont typeface="Calibri"/>
              <a:buNone/>
            </a:pPr>
            <a:r>
              <a:rPr b="1" i="0" lang="en-US" sz="1000" u="none" cap="none" strike="noStrike">
                <a:solidFill>
                  <a:srgbClr val="7B5EA7"/>
                </a:solidFill>
                <a:latin typeface="Lato"/>
                <a:ea typeface="Lato"/>
                <a:cs typeface="Lato"/>
                <a:sym typeface="Lato"/>
              </a:rPr>
              <a:t>Revenue Leak</a:t>
            </a:r>
            <a:endParaRPr i="0" sz="1000" u="none" cap="none" strike="noStrike">
              <a:solidFill>
                <a:schemeClr val="dk1"/>
              </a:solidFill>
              <a:latin typeface="Lato"/>
              <a:ea typeface="Lato"/>
              <a:cs typeface="Lato"/>
              <a:sym typeface="Lato"/>
            </a:endParaRPr>
          </a:p>
        </p:txBody>
      </p:sp>
      <p:sp>
        <p:nvSpPr>
          <p:cNvPr id="159" name="Google Shape;159;p9"/>
          <p:cNvSpPr/>
          <p:nvPr/>
        </p:nvSpPr>
        <p:spPr>
          <a:xfrm>
            <a:off x="8046720" y="1472184"/>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000"/>
              <a:buFont typeface="Calibri"/>
              <a:buNone/>
            </a:pPr>
            <a:r>
              <a:rPr b="1" i="0" lang="en-US" sz="1000" u="none" cap="none" strike="noStrike">
                <a:solidFill>
                  <a:srgbClr val="7B5EA7"/>
                </a:solidFill>
                <a:latin typeface="Lato"/>
                <a:ea typeface="Lato"/>
                <a:cs typeface="Lato"/>
                <a:sym typeface="Lato"/>
              </a:rPr>
              <a:t>Status</a:t>
            </a:r>
            <a:endParaRPr i="0" sz="1000" u="none" cap="none" strike="noStrike">
              <a:solidFill>
                <a:schemeClr val="dk1"/>
              </a:solidFill>
              <a:latin typeface="Lato"/>
              <a:ea typeface="Lato"/>
              <a:cs typeface="Lato"/>
              <a:sym typeface="Lato"/>
            </a:endParaRPr>
          </a:p>
        </p:txBody>
      </p:sp>
      <p:sp>
        <p:nvSpPr>
          <p:cNvPr id="160" name="Google Shape;160;p9"/>
          <p:cNvSpPr/>
          <p:nvPr/>
        </p:nvSpPr>
        <p:spPr>
          <a:xfrm>
            <a:off x="365760" y="1737360"/>
            <a:ext cx="8412480" cy="438912"/>
          </a:xfrm>
          <a:prstGeom prst="rect">
            <a:avLst/>
          </a:prstGeom>
          <a:solidFill>
            <a:srgbClr val="192040"/>
          </a:solidFill>
          <a:ln cap="flat" cmpd="sng" w="9525">
            <a:solidFill>
              <a:srgbClr val="1E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161" name="Google Shape;161;p9"/>
          <p:cNvSpPr/>
          <p:nvPr/>
        </p:nvSpPr>
        <p:spPr>
          <a:xfrm>
            <a:off x="457200" y="1847088"/>
            <a:ext cx="2560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i="0" lang="en-US" sz="1000" u="none" cap="none" strike="noStrike">
                <a:solidFill>
                  <a:srgbClr val="FFFFFF"/>
                </a:solidFill>
                <a:latin typeface="Lato"/>
                <a:ea typeface="Lato"/>
                <a:cs typeface="Lato"/>
                <a:sym typeface="Lato"/>
              </a:rPr>
              <a:t>Contacts with lead status</a:t>
            </a:r>
            <a:endParaRPr i="0" sz="1000" u="none" cap="none" strike="noStrike">
              <a:solidFill>
                <a:srgbClr val="FFFFFF"/>
              </a:solidFill>
              <a:latin typeface="Lato"/>
              <a:ea typeface="Lato"/>
              <a:cs typeface="Lato"/>
              <a:sym typeface="Lato"/>
            </a:endParaRPr>
          </a:p>
        </p:txBody>
      </p:sp>
      <p:sp>
        <p:nvSpPr>
          <p:cNvPr id="162" name="Google Shape;162;p9"/>
          <p:cNvSpPr/>
          <p:nvPr/>
        </p:nvSpPr>
        <p:spPr>
          <a:xfrm>
            <a:off x="3200400" y="1847088"/>
            <a:ext cx="1463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340 of 15,200</a:t>
            </a:r>
            <a:endParaRPr i="0" sz="1000" u="none" cap="none" strike="noStrike">
              <a:solidFill>
                <a:srgbClr val="FFFFFF"/>
              </a:solidFill>
              <a:latin typeface="Lato"/>
              <a:ea typeface="Lato"/>
              <a:cs typeface="Lato"/>
              <a:sym typeface="Lato"/>
            </a:endParaRPr>
          </a:p>
        </p:txBody>
      </p:sp>
      <p:sp>
        <p:nvSpPr>
          <p:cNvPr id="163" name="Google Shape;163;p9"/>
          <p:cNvSpPr/>
          <p:nvPr/>
        </p:nvSpPr>
        <p:spPr>
          <a:xfrm>
            <a:off x="4846320" y="1847088"/>
            <a:ext cx="1554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15,200 of 15,200</a:t>
            </a:r>
            <a:endParaRPr i="0" sz="1000" u="none" cap="none" strike="noStrike">
              <a:solidFill>
                <a:srgbClr val="FFFFFF"/>
              </a:solidFill>
              <a:latin typeface="Lato"/>
              <a:ea typeface="Lato"/>
              <a:cs typeface="Lato"/>
              <a:sym typeface="Lato"/>
            </a:endParaRPr>
          </a:p>
        </p:txBody>
      </p:sp>
      <p:sp>
        <p:nvSpPr>
          <p:cNvPr id="164" name="Google Shape;164;p9"/>
          <p:cNvSpPr/>
          <p:nvPr/>
        </p:nvSpPr>
        <p:spPr>
          <a:xfrm>
            <a:off x="6583680" y="1847088"/>
            <a:ext cx="1280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Adoption</a:t>
            </a:r>
            <a:endParaRPr i="0" sz="1000" u="none" cap="none" strike="noStrike">
              <a:solidFill>
                <a:srgbClr val="FFFFFF"/>
              </a:solidFill>
              <a:latin typeface="Lato"/>
              <a:ea typeface="Lato"/>
              <a:cs typeface="Lato"/>
              <a:sym typeface="Lato"/>
            </a:endParaRPr>
          </a:p>
        </p:txBody>
      </p:sp>
      <p:sp>
        <p:nvSpPr>
          <p:cNvPr id="165" name="Google Shape;165;p9"/>
          <p:cNvSpPr/>
          <p:nvPr/>
        </p:nvSpPr>
        <p:spPr>
          <a:xfrm>
            <a:off x="8046720" y="1847088"/>
            <a:ext cx="822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C71"/>
              </a:buClr>
              <a:buSzPts val="900"/>
              <a:buFont typeface="Calibri"/>
              <a:buNone/>
            </a:pPr>
            <a:r>
              <a:rPr b="1" i="0" lang="en-US" sz="900" u="none" cap="none" strike="noStrike">
                <a:solidFill>
                  <a:srgbClr val="2ECC71"/>
                </a:solidFill>
                <a:latin typeface="Lato"/>
                <a:ea typeface="Lato"/>
                <a:cs typeface="Lato"/>
                <a:sym typeface="Lato"/>
              </a:rPr>
              <a:t>Confirmed</a:t>
            </a:r>
            <a:endParaRPr i="0" sz="900" u="none" cap="none" strike="noStrike">
              <a:solidFill>
                <a:schemeClr val="dk1"/>
              </a:solidFill>
              <a:latin typeface="Lato"/>
              <a:ea typeface="Lato"/>
              <a:cs typeface="Lato"/>
              <a:sym typeface="Lato"/>
            </a:endParaRPr>
          </a:p>
        </p:txBody>
      </p:sp>
      <p:sp>
        <p:nvSpPr>
          <p:cNvPr id="166" name="Google Shape;166;p9"/>
          <p:cNvSpPr/>
          <p:nvPr/>
        </p:nvSpPr>
        <p:spPr>
          <a:xfrm>
            <a:off x="365760" y="2212848"/>
            <a:ext cx="8412480" cy="438912"/>
          </a:xfrm>
          <a:prstGeom prst="rect">
            <a:avLst/>
          </a:prstGeom>
          <a:solidFill>
            <a:srgbClr val="1E2A4A"/>
          </a:solidFill>
          <a:ln cap="flat" cmpd="sng" w="9525">
            <a:solidFill>
              <a:srgbClr val="1E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167" name="Google Shape;167;p9"/>
          <p:cNvSpPr/>
          <p:nvPr/>
        </p:nvSpPr>
        <p:spPr>
          <a:xfrm>
            <a:off x="457200" y="2322576"/>
            <a:ext cx="2560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i="0" lang="en-US" sz="1000" u="none" cap="none" strike="noStrike">
                <a:solidFill>
                  <a:srgbClr val="FFFFFF"/>
                </a:solidFill>
                <a:latin typeface="Lato"/>
                <a:ea typeface="Lato"/>
                <a:cs typeface="Lato"/>
                <a:sym typeface="Lato"/>
              </a:rPr>
              <a:t>Pipeline reportability</a:t>
            </a:r>
            <a:endParaRPr i="0" sz="1000" u="none" cap="none" strike="noStrike">
              <a:solidFill>
                <a:srgbClr val="FFFFFF"/>
              </a:solidFill>
              <a:latin typeface="Lato"/>
              <a:ea typeface="Lato"/>
              <a:cs typeface="Lato"/>
              <a:sym typeface="Lato"/>
            </a:endParaRPr>
          </a:p>
        </p:txBody>
      </p:sp>
      <p:sp>
        <p:nvSpPr>
          <p:cNvPr id="168" name="Google Shape;168;p9"/>
          <p:cNvSpPr/>
          <p:nvPr/>
        </p:nvSpPr>
        <p:spPr>
          <a:xfrm>
            <a:off x="3200400" y="2322576"/>
            <a:ext cx="1463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Zero</a:t>
            </a:r>
            <a:endParaRPr i="0" sz="1000" u="none" cap="none" strike="noStrike">
              <a:solidFill>
                <a:srgbClr val="FFFFFF"/>
              </a:solidFill>
              <a:latin typeface="Lato"/>
              <a:ea typeface="Lato"/>
              <a:cs typeface="Lato"/>
              <a:sym typeface="Lato"/>
            </a:endParaRPr>
          </a:p>
        </p:txBody>
      </p:sp>
      <p:sp>
        <p:nvSpPr>
          <p:cNvPr id="169" name="Google Shape;169;p9"/>
          <p:cNvSpPr/>
          <p:nvPr/>
        </p:nvSpPr>
        <p:spPr>
          <a:xfrm>
            <a:off x="4846320" y="2322576"/>
            <a:ext cx="1554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Live forecast</a:t>
            </a:r>
            <a:endParaRPr i="0" sz="1000" u="none" cap="none" strike="noStrike">
              <a:solidFill>
                <a:srgbClr val="FFFFFF"/>
              </a:solidFill>
              <a:latin typeface="Lato"/>
              <a:ea typeface="Lato"/>
              <a:cs typeface="Lato"/>
              <a:sym typeface="Lato"/>
            </a:endParaRPr>
          </a:p>
        </p:txBody>
      </p:sp>
      <p:sp>
        <p:nvSpPr>
          <p:cNvPr id="170" name="Google Shape;170;p9"/>
          <p:cNvSpPr/>
          <p:nvPr/>
        </p:nvSpPr>
        <p:spPr>
          <a:xfrm>
            <a:off x="6583680" y="2322576"/>
            <a:ext cx="1280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Visibility</a:t>
            </a:r>
            <a:endParaRPr i="0" sz="1000" u="none" cap="none" strike="noStrike">
              <a:solidFill>
                <a:srgbClr val="FFFFFF"/>
              </a:solidFill>
              <a:latin typeface="Lato"/>
              <a:ea typeface="Lato"/>
              <a:cs typeface="Lato"/>
              <a:sym typeface="Lato"/>
            </a:endParaRPr>
          </a:p>
        </p:txBody>
      </p:sp>
      <p:sp>
        <p:nvSpPr>
          <p:cNvPr id="171" name="Google Shape;171;p9"/>
          <p:cNvSpPr/>
          <p:nvPr/>
        </p:nvSpPr>
        <p:spPr>
          <a:xfrm>
            <a:off x="8046720" y="2322576"/>
            <a:ext cx="822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CC71"/>
              </a:buClr>
              <a:buSzPts val="900"/>
              <a:buFont typeface="Calibri"/>
              <a:buNone/>
            </a:pPr>
            <a:r>
              <a:rPr b="1" i="0" lang="en-US" sz="900" u="none" cap="none" strike="noStrike">
                <a:solidFill>
                  <a:srgbClr val="2ECC71"/>
                </a:solidFill>
                <a:latin typeface="Lato"/>
                <a:ea typeface="Lato"/>
                <a:cs typeface="Lato"/>
                <a:sym typeface="Lato"/>
              </a:rPr>
              <a:t>Confirmed</a:t>
            </a:r>
            <a:endParaRPr i="0" sz="900" u="none" cap="none" strike="noStrike">
              <a:solidFill>
                <a:schemeClr val="dk1"/>
              </a:solidFill>
              <a:latin typeface="Lato"/>
              <a:ea typeface="Lato"/>
              <a:cs typeface="Lato"/>
              <a:sym typeface="Lato"/>
            </a:endParaRPr>
          </a:p>
        </p:txBody>
      </p:sp>
      <p:sp>
        <p:nvSpPr>
          <p:cNvPr id="172" name="Google Shape;172;p9"/>
          <p:cNvSpPr/>
          <p:nvPr/>
        </p:nvSpPr>
        <p:spPr>
          <a:xfrm>
            <a:off x="365760" y="2688336"/>
            <a:ext cx="8412480" cy="438912"/>
          </a:xfrm>
          <a:prstGeom prst="rect">
            <a:avLst/>
          </a:prstGeom>
          <a:solidFill>
            <a:srgbClr val="192040"/>
          </a:solidFill>
          <a:ln cap="flat" cmpd="sng" w="9525">
            <a:solidFill>
              <a:srgbClr val="1E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173" name="Google Shape;173;p9"/>
          <p:cNvSpPr/>
          <p:nvPr/>
        </p:nvSpPr>
        <p:spPr>
          <a:xfrm>
            <a:off x="457200" y="2798064"/>
            <a:ext cx="2560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i="0" lang="en-US" sz="1000" u="none" cap="none" strike="noStrike">
                <a:solidFill>
                  <a:srgbClr val="FFFFFF"/>
                </a:solidFill>
                <a:latin typeface="Lato"/>
                <a:ea typeface="Lato"/>
                <a:cs typeface="Lato"/>
                <a:sym typeface="Lato"/>
              </a:rPr>
              <a:t>Tech support response time</a:t>
            </a:r>
            <a:endParaRPr i="0" sz="1000" u="none" cap="none" strike="noStrike">
              <a:solidFill>
                <a:srgbClr val="FFFFFF"/>
              </a:solidFill>
              <a:latin typeface="Lato"/>
              <a:ea typeface="Lato"/>
              <a:cs typeface="Lato"/>
              <a:sym typeface="Lato"/>
            </a:endParaRPr>
          </a:p>
        </p:txBody>
      </p:sp>
      <p:sp>
        <p:nvSpPr>
          <p:cNvPr id="174" name="Google Shape;174;p9"/>
          <p:cNvSpPr/>
          <p:nvPr/>
        </p:nvSpPr>
        <p:spPr>
          <a:xfrm>
            <a:off x="3200400" y="2798064"/>
            <a:ext cx="1463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5-7 days</a:t>
            </a:r>
            <a:endParaRPr i="0" sz="1000" u="none" cap="none" strike="noStrike">
              <a:solidFill>
                <a:srgbClr val="FFFFFF"/>
              </a:solidFill>
              <a:latin typeface="Lato"/>
              <a:ea typeface="Lato"/>
              <a:cs typeface="Lato"/>
              <a:sym typeface="Lato"/>
            </a:endParaRPr>
          </a:p>
        </p:txBody>
      </p:sp>
      <p:sp>
        <p:nvSpPr>
          <p:cNvPr id="175" name="Google Shape;175;p9"/>
          <p:cNvSpPr/>
          <p:nvPr/>
        </p:nvSpPr>
        <p:spPr>
          <a:xfrm>
            <a:off x="4846320" y="2798064"/>
            <a:ext cx="1554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24-hour SLA</a:t>
            </a:r>
            <a:endParaRPr i="0" sz="1000" u="none" cap="none" strike="noStrike">
              <a:solidFill>
                <a:srgbClr val="FFFFFF"/>
              </a:solidFill>
              <a:latin typeface="Lato"/>
              <a:ea typeface="Lato"/>
              <a:cs typeface="Lato"/>
              <a:sym typeface="Lato"/>
            </a:endParaRPr>
          </a:p>
        </p:txBody>
      </p:sp>
      <p:sp>
        <p:nvSpPr>
          <p:cNvPr id="176" name="Google Shape;176;p9"/>
          <p:cNvSpPr/>
          <p:nvPr/>
        </p:nvSpPr>
        <p:spPr>
          <a:xfrm>
            <a:off x="6583680" y="2798064"/>
            <a:ext cx="1280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Speed</a:t>
            </a:r>
            <a:endParaRPr i="0" sz="1000" u="none" cap="none" strike="noStrike">
              <a:solidFill>
                <a:srgbClr val="FFFFFF"/>
              </a:solidFill>
              <a:latin typeface="Lato"/>
              <a:ea typeface="Lato"/>
              <a:cs typeface="Lato"/>
              <a:sym typeface="Lato"/>
            </a:endParaRPr>
          </a:p>
        </p:txBody>
      </p:sp>
      <p:sp>
        <p:nvSpPr>
          <p:cNvPr id="177" name="Google Shape;177;p9"/>
          <p:cNvSpPr/>
          <p:nvPr/>
        </p:nvSpPr>
        <p:spPr>
          <a:xfrm>
            <a:off x="8046720" y="2798064"/>
            <a:ext cx="822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900"/>
              <a:buFont typeface="Calibri"/>
              <a:buNone/>
            </a:pPr>
            <a:r>
              <a:rPr b="1" i="0" lang="en-US" sz="900" u="none" cap="none" strike="noStrike">
                <a:solidFill>
                  <a:srgbClr val="FFFFFF"/>
                </a:solidFill>
                <a:latin typeface="Lato"/>
                <a:ea typeface="Lato"/>
                <a:cs typeface="Lato"/>
                <a:sym typeface="Lato"/>
              </a:rPr>
              <a:t>To confirm</a:t>
            </a:r>
            <a:endParaRPr i="0" sz="900" u="none" cap="none" strike="noStrike">
              <a:solidFill>
                <a:srgbClr val="FFFFFF"/>
              </a:solidFill>
              <a:latin typeface="Lato"/>
              <a:ea typeface="Lato"/>
              <a:cs typeface="Lato"/>
              <a:sym typeface="Lato"/>
            </a:endParaRPr>
          </a:p>
        </p:txBody>
      </p:sp>
      <p:sp>
        <p:nvSpPr>
          <p:cNvPr id="178" name="Google Shape;178;p9"/>
          <p:cNvSpPr/>
          <p:nvPr/>
        </p:nvSpPr>
        <p:spPr>
          <a:xfrm>
            <a:off x="365760" y="3163824"/>
            <a:ext cx="8412480" cy="438912"/>
          </a:xfrm>
          <a:prstGeom prst="rect">
            <a:avLst/>
          </a:prstGeom>
          <a:solidFill>
            <a:srgbClr val="1E2A4A"/>
          </a:solidFill>
          <a:ln cap="flat" cmpd="sng" w="9525">
            <a:solidFill>
              <a:srgbClr val="1E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179" name="Google Shape;179;p9"/>
          <p:cNvSpPr/>
          <p:nvPr/>
        </p:nvSpPr>
        <p:spPr>
          <a:xfrm>
            <a:off x="457200" y="3273552"/>
            <a:ext cx="2560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i="0" lang="en-US" sz="1000" u="none" cap="none" strike="noStrike">
                <a:solidFill>
                  <a:srgbClr val="FFFFFF"/>
                </a:solidFill>
                <a:latin typeface="Lato"/>
                <a:ea typeface="Lato"/>
                <a:cs typeface="Lato"/>
                <a:sym typeface="Lato"/>
              </a:rPr>
              <a:t>Tech support volume / month</a:t>
            </a:r>
            <a:endParaRPr i="0" sz="1000" u="none" cap="none" strike="noStrike">
              <a:solidFill>
                <a:srgbClr val="FFFFFF"/>
              </a:solidFill>
              <a:latin typeface="Lato"/>
              <a:ea typeface="Lato"/>
              <a:cs typeface="Lato"/>
              <a:sym typeface="Lato"/>
            </a:endParaRPr>
          </a:p>
        </p:txBody>
      </p:sp>
      <p:sp>
        <p:nvSpPr>
          <p:cNvPr id="180" name="Google Shape;180;p9"/>
          <p:cNvSpPr/>
          <p:nvPr/>
        </p:nvSpPr>
        <p:spPr>
          <a:xfrm>
            <a:off x="3200400" y="3273552"/>
            <a:ext cx="1463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1,200</a:t>
            </a:r>
            <a:endParaRPr i="0" sz="1000" u="none" cap="none" strike="noStrike">
              <a:solidFill>
                <a:srgbClr val="FFFFFF"/>
              </a:solidFill>
              <a:latin typeface="Lato"/>
              <a:ea typeface="Lato"/>
              <a:cs typeface="Lato"/>
              <a:sym typeface="Lato"/>
            </a:endParaRPr>
          </a:p>
        </p:txBody>
      </p:sp>
      <p:sp>
        <p:nvSpPr>
          <p:cNvPr id="181" name="Google Shape;181;p9"/>
          <p:cNvSpPr/>
          <p:nvPr/>
        </p:nvSpPr>
        <p:spPr>
          <a:xfrm>
            <a:off x="4846320" y="3273552"/>
            <a:ext cx="1554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Baseline to set</a:t>
            </a:r>
            <a:endParaRPr i="0" sz="1000" u="none" cap="none" strike="noStrike">
              <a:solidFill>
                <a:srgbClr val="FFFFFF"/>
              </a:solidFill>
              <a:latin typeface="Lato"/>
              <a:ea typeface="Lato"/>
              <a:cs typeface="Lato"/>
              <a:sym typeface="Lato"/>
            </a:endParaRPr>
          </a:p>
        </p:txBody>
      </p:sp>
      <p:sp>
        <p:nvSpPr>
          <p:cNvPr id="182" name="Google Shape;182;p9"/>
          <p:cNvSpPr/>
          <p:nvPr/>
        </p:nvSpPr>
        <p:spPr>
          <a:xfrm>
            <a:off x="6583680" y="3273552"/>
            <a:ext cx="1280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Speed</a:t>
            </a:r>
            <a:endParaRPr i="0" sz="1000" u="none" cap="none" strike="noStrike">
              <a:solidFill>
                <a:srgbClr val="FFFFFF"/>
              </a:solidFill>
              <a:latin typeface="Lato"/>
              <a:ea typeface="Lato"/>
              <a:cs typeface="Lato"/>
              <a:sym typeface="Lato"/>
            </a:endParaRPr>
          </a:p>
        </p:txBody>
      </p:sp>
      <p:sp>
        <p:nvSpPr>
          <p:cNvPr id="183" name="Google Shape;183;p9"/>
          <p:cNvSpPr/>
          <p:nvPr/>
        </p:nvSpPr>
        <p:spPr>
          <a:xfrm>
            <a:off x="8046720" y="3273552"/>
            <a:ext cx="822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900"/>
              <a:buFont typeface="Calibri"/>
              <a:buNone/>
            </a:pPr>
            <a:r>
              <a:rPr b="1" i="0" lang="en-US" sz="900" u="none" cap="none" strike="noStrike">
                <a:solidFill>
                  <a:srgbClr val="FFFFFF"/>
                </a:solidFill>
                <a:latin typeface="Lato"/>
                <a:ea typeface="Lato"/>
                <a:cs typeface="Lato"/>
                <a:sym typeface="Lato"/>
              </a:rPr>
              <a:t>To confirm</a:t>
            </a:r>
            <a:endParaRPr i="0" sz="900" u="none" cap="none" strike="noStrike">
              <a:solidFill>
                <a:srgbClr val="FFFFFF"/>
              </a:solidFill>
              <a:latin typeface="Lato"/>
              <a:ea typeface="Lato"/>
              <a:cs typeface="Lato"/>
              <a:sym typeface="Lato"/>
            </a:endParaRPr>
          </a:p>
        </p:txBody>
      </p:sp>
      <p:sp>
        <p:nvSpPr>
          <p:cNvPr id="184" name="Google Shape;184;p9"/>
          <p:cNvSpPr/>
          <p:nvPr/>
        </p:nvSpPr>
        <p:spPr>
          <a:xfrm>
            <a:off x="365760" y="3639312"/>
            <a:ext cx="8412480" cy="438912"/>
          </a:xfrm>
          <a:prstGeom prst="rect">
            <a:avLst/>
          </a:prstGeom>
          <a:solidFill>
            <a:srgbClr val="192040"/>
          </a:solidFill>
          <a:ln cap="flat" cmpd="sng" w="9525">
            <a:solidFill>
              <a:srgbClr val="1E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185" name="Google Shape;185;p9"/>
          <p:cNvSpPr/>
          <p:nvPr/>
        </p:nvSpPr>
        <p:spPr>
          <a:xfrm>
            <a:off x="457200" y="3749040"/>
            <a:ext cx="2560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i="0" lang="en-US" sz="1000" u="none" cap="none" strike="noStrike">
                <a:solidFill>
                  <a:srgbClr val="FFFFFF"/>
                </a:solidFill>
                <a:latin typeface="Lato"/>
                <a:ea typeface="Lato"/>
                <a:cs typeface="Lato"/>
                <a:sym typeface="Lato"/>
              </a:rPr>
              <a:t>Sales team HubSpot usage</a:t>
            </a:r>
            <a:endParaRPr i="0" sz="1000" u="none" cap="none" strike="noStrike">
              <a:solidFill>
                <a:srgbClr val="FFFFFF"/>
              </a:solidFill>
              <a:latin typeface="Lato"/>
              <a:ea typeface="Lato"/>
              <a:cs typeface="Lato"/>
              <a:sym typeface="Lato"/>
            </a:endParaRPr>
          </a:p>
        </p:txBody>
      </p:sp>
      <p:sp>
        <p:nvSpPr>
          <p:cNvPr id="186" name="Google Shape;186;p9"/>
          <p:cNvSpPr/>
          <p:nvPr/>
        </p:nvSpPr>
        <p:spPr>
          <a:xfrm>
            <a:off x="3200400" y="3749040"/>
            <a:ext cx="14630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Near zero</a:t>
            </a:r>
            <a:endParaRPr i="0" sz="1000" u="none" cap="none" strike="noStrike">
              <a:solidFill>
                <a:srgbClr val="FFFFFF"/>
              </a:solidFill>
              <a:latin typeface="Lato"/>
              <a:ea typeface="Lato"/>
              <a:cs typeface="Lato"/>
              <a:sym typeface="Lato"/>
            </a:endParaRPr>
          </a:p>
        </p:txBody>
      </p:sp>
      <p:sp>
        <p:nvSpPr>
          <p:cNvPr id="187" name="Google Shape;187;p9"/>
          <p:cNvSpPr/>
          <p:nvPr/>
        </p:nvSpPr>
        <p:spPr>
          <a:xfrm>
            <a:off x="4846320" y="3749040"/>
            <a:ext cx="1554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Confirm today</a:t>
            </a:r>
            <a:endParaRPr i="0" sz="1000" u="none" cap="none" strike="noStrike">
              <a:solidFill>
                <a:srgbClr val="FFFFFF"/>
              </a:solidFill>
              <a:latin typeface="Lato"/>
              <a:ea typeface="Lato"/>
              <a:cs typeface="Lato"/>
              <a:sym typeface="Lato"/>
            </a:endParaRPr>
          </a:p>
        </p:txBody>
      </p:sp>
      <p:sp>
        <p:nvSpPr>
          <p:cNvPr id="188" name="Google Shape;188;p9"/>
          <p:cNvSpPr/>
          <p:nvPr/>
        </p:nvSpPr>
        <p:spPr>
          <a:xfrm>
            <a:off x="6583680" y="3749040"/>
            <a:ext cx="1280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rgbClr val="FFFFFF"/>
                </a:solidFill>
                <a:latin typeface="Lato"/>
                <a:ea typeface="Lato"/>
                <a:cs typeface="Lato"/>
                <a:sym typeface="Lato"/>
              </a:rPr>
              <a:t>Adoption</a:t>
            </a:r>
            <a:endParaRPr i="0" sz="1000" u="none" cap="none" strike="noStrike">
              <a:solidFill>
                <a:srgbClr val="FFFFFF"/>
              </a:solidFill>
              <a:latin typeface="Lato"/>
              <a:ea typeface="Lato"/>
              <a:cs typeface="Lato"/>
              <a:sym typeface="Lato"/>
            </a:endParaRPr>
          </a:p>
        </p:txBody>
      </p:sp>
      <p:sp>
        <p:nvSpPr>
          <p:cNvPr id="189" name="Google Shape;189;p9"/>
          <p:cNvSpPr/>
          <p:nvPr/>
        </p:nvSpPr>
        <p:spPr>
          <a:xfrm>
            <a:off x="8046720" y="3749040"/>
            <a:ext cx="8229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900"/>
              <a:buFont typeface="Calibri"/>
              <a:buNone/>
            </a:pPr>
            <a:r>
              <a:rPr b="1" i="0" lang="en-US" sz="900" u="none" cap="none" strike="noStrike">
                <a:solidFill>
                  <a:srgbClr val="FFFFFF"/>
                </a:solidFill>
                <a:latin typeface="Lato"/>
                <a:ea typeface="Lato"/>
                <a:cs typeface="Lato"/>
                <a:sym typeface="Lato"/>
              </a:rPr>
              <a:t>To confirm</a:t>
            </a:r>
            <a:endParaRPr i="0" sz="900" u="none" cap="none" strike="noStrike">
              <a:solidFill>
                <a:srgbClr val="FFFFFF"/>
              </a:solidFill>
              <a:latin typeface="Lato"/>
              <a:ea typeface="Lato"/>
              <a:cs typeface="Lato"/>
              <a:sym typeface="Lato"/>
            </a:endParaRPr>
          </a:p>
        </p:txBody>
      </p:sp>
      <p:sp>
        <p:nvSpPr>
          <p:cNvPr id="190" name="Google Shape;190;p9"/>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191" name="Google Shape;191;p9"/>
          <p:cNvCxnSpPr>
            <a:endCxn id="190"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192" name="Google Shape;192;p9"/>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2040"/>
        </a:solidFill>
      </p:bgPr>
    </p:bg>
    <p:spTree>
      <p:nvGrpSpPr>
        <p:cNvPr id="197" name="Shape 197"/>
        <p:cNvGrpSpPr/>
        <p:nvPr/>
      </p:nvGrpSpPr>
      <p:grpSpPr>
        <a:xfrm>
          <a:off x="0" y="0"/>
          <a:ext cx="0" cy="0"/>
          <a:chOff x="0" y="0"/>
          <a:chExt cx="0" cy="0"/>
        </a:xfrm>
      </p:grpSpPr>
      <p:sp>
        <p:nvSpPr>
          <p:cNvPr id="198" name="Google Shape;198;p10"/>
          <p:cNvSpPr/>
          <p:nvPr/>
        </p:nvSpPr>
        <p:spPr>
          <a:xfrm>
            <a:off x="457200" y="256032"/>
            <a:ext cx="82296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Lato"/>
                <a:ea typeface="Lato"/>
                <a:cs typeface="Lato"/>
                <a:sym typeface="Lato"/>
              </a:rPr>
              <a:t>Quick Wins </a:t>
            </a:r>
            <a:r>
              <a:rPr b="1" lang="en-US" sz="2600">
                <a:solidFill>
                  <a:srgbClr val="FFFFFF"/>
                </a:solidFill>
                <a:latin typeface="Lato"/>
                <a:ea typeface="Lato"/>
                <a:cs typeface="Lato"/>
                <a:sym typeface="Lato"/>
              </a:rPr>
              <a:t>-</a:t>
            </a:r>
            <a:r>
              <a:rPr b="1" i="0" lang="en-US" sz="2600" u="none" cap="none" strike="noStrike">
                <a:solidFill>
                  <a:srgbClr val="FFFFFF"/>
                </a:solidFill>
                <a:latin typeface="Lato"/>
                <a:ea typeface="Lato"/>
                <a:cs typeface="Lato"/>
                <a:sym typeface="Lato"/>
              </a:rPr>
              <a:t> Where We Start</a:t>
            </a:r>
            <a:endParaRPr i="0" sz="2600" u="none" cap="none" strike="noStrike">
              <a:solidFill>
                <a:srgbClr val="FFFFFF"/>
              </a:solidFill>
              <a:latin typeface="Lato"/>
              <a:ea typeface="Lato"/>
              <a:cs typeface="Lato"/>
              <a:sym typeface="Lato"/>
            </a:endParaRPr>
          </a:p>
        </p:txBody>
      </p:sp>
      <p:sp>
        <p:nvSpPr>
          <p:cNvPr id="199" name="Google Shape;199;p10"/>
          <p:cNvSpPr/>
          <p:nvPr/>
        </p:nvSpPr>
        <p:spPr>
          <a:xfrm>
            <a:off x="45720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1100"/>
              <a:buFont typeface="Calibri"/>
              <a:buNone/>
            </a:pPr>
            <a:r>
              <a:rPr i="0" lang="en-US" sz="1100" u="none" cap="none" strike="noStrike">
                <a:solidFill>
                  <a:srgbClr val="FFFFFF"/>
                </a:solidFill>
                <a:latin typeface="Lato"/>
                <a:ea typeface="Lato"/>
                <a:cs typeface="Lato"/>
                <a:sym typeface="Lato"/>
              </a:rPr>
              <a:t>Three things we deliver in the first 30 days that create immediate, visible impact.</a:t>
            </a:r>
            <a:endParaRPr i="0" sz="1100" u="none" cap="none" strike="noStrike">
              <a:solidFill>
                <a:srgbClr val="FFFFFF"/>
              </a:solidFill>
              <a:latin typeface="Lato"/>
              <a:ea typeface="Lato"/>
              <a:cs typeface="Lato"/>
              <a:sym typeface="Lato"/>
            </a:endParaRPr>
          </a:p>
        </p:txBody>
      </p:sp>
      <p:sp>
        <p:nvSpPr>
          <p:cNvPr id="200" name="Google Shape;200;p10"/>
          <p:cNvSpPr/>
          <p:nvPr/>
        </p:nvSpPr>
        <p:spPr>
          <a:xfrm>
            <a:off x="320040" y="987552"/>
            <a:ext cx="2743200" cy="3840480"/>
          </a:xfrm>
          <a:prstGeom prst="roundRect">
            <a:avLst>
              <a:gd fmla="val 2667"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01" name="Google Shape;201;p10"/>
          <p:cNvSpPr/>
          <p:nvPr/>
        </p:nvSpPr>
        <p:spPr>
          <a:xfrm>
            <a:off x="484632" y="1115568"/>
            <a:ext cx="384048" cy="384048"/>
          </a:xfrm>
          <a:prstGeom prst="ellipse">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02" name="Google Shape;202;p10"/>
          <p:cNvSpPr/>
          <p:nvPr/>
        </p:nvSpPr>
        <p:spPr>
          <a:xfrm>
            <a:off x="484632" y="1115568"/>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Lato"/>
                <a:ea typeface="Lato"/>
                <a:cs typeface="Lato"/>
                <a:sym typeface="Lato"/>
              </a:rPr>
              <a:t>1</a:t>
            </a:r>
            <a:endParaRPr i="0" sz="1300" u="none" cap="none" strike="noStrike">
              <a:solidFill>
                <a:schemeClr val="dk1"/>
              </a:solidFill>
              <a:latin typeface="Lato"/>
              <a:ea typeface="Lato"/>
              <a:cs typeface="Lato"/>
              <a:sym typeface="Lato"/>
            </a:endParaRPr>
          </a:p>
        </p:txBody>
      </p:sp>
      <p:sp>
        <p:nvSpPr>
          <p:cNvPr id="203" name="Google Shape;203;p10"/>
          <p:cNvSpPr/>
          <p:nvPr/>
        </p:nvSpPr>
        <p:spPr>
          <a:xfrm>
            <a:off x="960120" y="1133856"/>
            <a:ext cx="1920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Lato"/>
                <a:ea typeface="Lato"/>
                <a:cs typeface="Lato"/>
                <a:sym typeface="Lato"/>
              </a:rPr>
              <a:t>Portal Audit &amp; Action Roadmap</a:t>
            </a:r>
            <a:endParaRPr i="0" sz="1200" u="none" cap="none" strike="noStrike">
              <a:solidFill>
                <a:srgbClr val="FFFFFF"/>
              </a:solidFill>
              <a:latin typeface="Lato"/>
              <a:ea typeface="Lato"/>
              <a:cs typeface="Lato"/>
              <a:sym typeface="Lato"/>
            </a:endParaRPr>
          </a:p>
        </p:txBody>
      </p:sp>
      <p:sp>
        <p:nvSpPr>
          <p:cNvPr id="204" name="Google Shape;204;p10"/>
          <p:cNvSpPr/>
          <p:nvPr/>
        </p:nvSpPr>
        <p:spPr>
          <a:xfrm>
            <a:off x="484632" y="1600200"/>
            <a:ext cx="2423160" cy="1965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rgbClr val="FFFFFF"/>
                </a:solidFill>
                <a:latin typeface="Lato"/>
                <a:ea typeface="Lato"/>
                <a:cs typeface="Lato"/>
                <a:sym typeface="Lato"/>
              </a:rPr>
              <a:t>A full diagnostic of the HubSpot portal</a:t>
            </a:r>
            <a:r>
              <a:rPr lang="en-US" sz="950">
                <a:solidFill>
                  <a:srgbClr val="FFFFFF"/>
                </a:solidFill>
                <a:latin typeface="Lato"/>
                <a:ea typeface="Lato"/>
                <a:cs typeface="Lato"/>
                <a:sym typeface="Lato"/>
              </a:rPr>
              <a:t>, </a:t>
            </a:r>
            <a:r>
              <a:rPr i="0" lang="en-US" sz="950" u="none" cap="none" strike="noStrike">
                <a:solidFill>
                  <a:srgbClr val="FFFFFF"/>
                </a:solidFill>
                <a:latin typeface="Lato"/>
                <a:ea typeface="Lato"/>
                <a:cs typeface="Lato"/>
                <a:sym typeface="Lato"/>
              </a:rPr>
              <a:t>every workflow, contact, pipeline, and user</a:t>
            </a:r>
            <a:r>
              <a:rPr lang="en-US" sz="950">
                <a:solidFill>
                  <a:srgbClr val="FFFFFF"/>
                </a:solidFill>
                <a:latin typeface="Lato"/>
                <a:ea typeface="Lato"/>
                <a:cs typeface="Lato"/>
                <a:sym typeface="Lato"/>
              </a:rPr>
              <a:t>, </a:t>
            </a:r>
            <a:r>
              <a:rPr i="0" lang="en-US" sz="950" u="none" cap="none" strike="noStrike">
                <a:solidFill>
                  <a:srgbClr val="FFFFFF"/>
                </a:solidFill>
                <a:latin typeface="Lato"/>
                <a:ea typeface="Lato"/>
                <a:cs typeface="Lato"/>
                <a:sym typeface="Lato"/>
              </a:rPr>
              <a:t>with a ranked list of exactly what is broken and what to fix first. You get a clear picture of the current state and a prioritised plan to move from it within the first two weeks.</a:t>
            </a:r>
            <a:endParaRPr i="0" sz="950" u="none" cap="none" strike="noStrike">
              <a:solidFill>
                <a:srgbClr val="FFFFFF"/>
              </a:solidFill>
              <a:latin typeface="Lato"/>
              <a:ea typeface="Lato"/>
              <a:cs typeface="Lato"/>
              <a:sym typeface="Lato"/>
            </a:endParaRPr>
          </a:p>
        </p:txBody>
      </p:sp>
      <p:sp>
        <p:nvSpPr>
          <p:cNvPr id="205" name="Google Shape;205;p10"/>
          <p:cNvSpPr/>
          <p:nvPr/>
        </p:nvSpPr>
        <p:spPr>
          <a:xfrm>
            <a:off x="484632" y="3639312"/>
            <a:ext cx="2423160" cy="256032"/>
          </a:xfrm>
          <a:prstGeom prst="roundRect">
            <a:avLst>
              <a:gd fmla="val 14286" name="adj"/>
            </a:avLst>
          </a:prstGeom>
          <a:solidFill>
            <a:srgbClr val="0F1628"/>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06" name="Google Shape;206;p10"/>
          <p:cNvSpPr/>
          <p:nvPr/>
        </p:nvSpPr>
        <p:spPr>
          <a:xfrm>
            <a:off x="484632" y="3648456"/>
            <a:ext cx="24231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5EA7"/>
              </a:buClr>
              <a:buSzPts val="900"/>
              <a:buFont typeface="Calibri"/>
              <a:buNone/>
            </a:pPr>
            <a:r>
              <a:rPr i="0" lang="en-US" sz="900" u="none" cap="none" strike="noStrike">
                <a:solidFill>
                  <a:srgbClr val="7B5EA7"/>
                </a:solidFill>
                <a:latin typeface="Lato"/>
                <a:ea typeface="Lato"/>
                <a:cs typeface="Lato"/>
                <a:sym typeface="Lato"/>
              </a:rPr>
              <a:t>Foundations &amp; Visibility</a:t>
            </a:r>
            <a:endParaRPr i="0" sz="900" u="none" cap="none" strike="noStrike">
              <a:solidFill>
                <a:schemeClr val="dk1"/>
              </a:solidFill>
              <a:latin typeface="Lato"/>
              <a:ea typeface="Lato"/>
              <a:cs typeface="Lato"/>
              <a:sym typeface="Lato"/>
            </a:endParaRPr>
          </a:p>
        </p:txBody>
      </p:sp>
      <p:sp>
        <p:nvSpPr>
          <p:cNvPr id="207" name="Google Shape;207;p10"/>
          <p:cNvSpPr/>
          <p:nvPr/>
        </p:nvSpPr>
        <p:spPr>
          <a:xfrm>
            <a:off x="484632" y="3931920"/>
            <a:ext cx="24231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6B0"/>
              </a:buClr>
              <a:buSzPts val="900"/>
              <a:buFont typeface="Calibri"/>
              <a:buNone/>
            </a:pPr>
            <a:r>
              <a:rPr i="0" lang="en-US" sz="900" u="none" cap="none" strike="noStrike">
                <a:solidFill>
                  <a:srgbClr val="FFFFFF"/>
                </a:solidFill>
                <a:latin typeface="Lato"/>
                <a:ea typeface="Lato"/>
                <a:cs typeface="Lato"/>
                <a:sym typeface="Lato"/>
              </a:rPr>
              <a:t>Live by: End of Week 2</a:t>
            </a:r>
            <a:endParaRPr i="0" sz="900" u="none" cap="none" strike="noStrike">
              <a:solidFill>
                <a:srgbClr val="FFFFFF"/>
              </a:solidFill>
              <a:latin typeface="Lato"/>
              <a:ea typeface="Lato"/>
              <a:cs typeface="Lato"/>
              <a:sym typeface="Lato"/>
            </a:endParaRPr>
          </a:p>
        </p:txBody>
      </p:sp>
      <p:sp>
        <p:nvSpPr>
          <p:cNvPr id="208" name="Google Shape;208;p10"/>
          <p:cNvSpPr/>
          <p:nvPr/>
        </p:nvSpPr>
        <p:spPr>
          <a:xfrm>
            <a:off x="3200400" y="987552"/>
            <a:ext cx="2743200" cy="3840480"/>
          </a:xfrm>
          <a:prstGeom prst="roundRect">
            <a:avLst>
              <a:gd fmla="val 2667"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09" name="Google Shape;209;p10"/>
          <p:cNvSpPr/>
          <p:nvPr/>
        </p:nvSpPr>
        <p:spPr>
          <a:xfrm>
            <a:off x="3364992" y="1115568"/>
            <a:ext cx="384048" cy="384048"/>
          </a:xfrm>
          <a:prstGeom prst="ellipse">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10" name="Google Shape;210;p10"/>
          <p:cNvSpPr/>
          <p:nvPr/>
        </p:nvSpPr>
        <p:spPr>
          <a:xfrm>
            <a:off x="3364992" y="1115568"/>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Lato"/>
                <a:ea typeface="Lato"/>
                <a:cs typeface="Lato"/>
                <a:sym typeface="Lato"/>
              </a:rPr>
              <a:t>2</a:t>
            </a:r>
            <a:endParaRPr i="0" sz="1300" u="none" cap="none" strike="noStrike">
              <a:solidFill>
                <a:schemeClr val="dk1"/>
              </a:solidFill>
              <a:latin typeface="Lato"/>
              <a:ea typeface="Lato"/>
              <a:cs typeface="Lato"/>
              <a:sym typeface="Lato"/>
            </a:endParaRPr>
          </a:p>
        </p:txBody>
      </p:sp>
      <p:sp>
        <p:nvSpPr>
          <p:cNvPr id="211" name="Google Shape;211;p10"/>
          <p:cNvSpPr/>
          <p:nvPr/>
        </p:nvSpPr>
        <p:spPr>
          <a:xfrm>
            <a:off x="3840480" y="1133856"/>
            <a:ext cx="1920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Lato"/>
                <a:ea typeface="Lato"/>
                <a:cs typeface="Lato"/>
                <a:sym typeface="Lato"/>
              </a:rPr>
              <a:t>Contact Ownership Cleanup</a:t>
            </a:r>
            <a:endParaRPr i="0" sz="1200" u="none" cap="none" strike="noStrike">
              <a:solidFill>
                <a:srgbClr val="FFFFFF"/>
              </a:solidFill>
              <a:latin typeface="Lato"/>
              <a:ea typeface="Lato"/>
              <a:cs typeface="Lato"/>
              <a:sym typeface="Lato"/>
            </a:endParaRPr>
          </a:p>
        </p:txBody>
      </p:sp>
      <p:sp>
        <p:nvSpPr>
          <p:cNvPr id="212" name="Google Shape;212;p10"/>
          <p:cNvSpPr/>
          <p:nvPr/>
        </p:nvSpPr>
        <p:spPr>
          <a:xfrm>
            <a:off x="3364992" y="1600200"/>
            <a:ext cx="2423160" cy="1965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rgbClr val="FFFFFF"/>
                </a:solidFill>
                <a:latin typeface="Lato"/>
                <a:ea typeface="Lato"/>
                <a:cs typeface="Lato"/>
                <a:sym typeface="Lato"/>
              </a:rPr>
              <a:t>Every contact reassigned away from ex-employees, lead statuses applied, and the 14,860-contact backlog given a classification framework. </a:t>
            </a:r>
            <a:r>
              <a:rPr lang="en-US" sz="950">
                <a:solidFill>
                  <a:srgbClr val="FFFFFF"/>
                </a:solidFill>
                <a:latin typeface="Lato"/>
                <a:ea typeface="Lato"/>
                <a:cs typeface="Lato"/>
                <a:sym typeface="Lato"/>
              </a:rPr>
              <a:t>TBA </a:t>
            </a:r>
            <a:r>
              <a:rPr i="0" lang="en-US" sz="950" u="none" cap="none" strike="noStrike">
                <a:solidFill>
                  <a:srgbClr val="FFFFFF"/>
                </a:solidFill>
                <a:latin typeface="Lato"/>
                <a:ea typeface="Lato"/>
                <a:cs typeface="Lato"/>
                <a:sym typeface="Lato"/>
              </a:rPr>
              <a:t>will be able to see who owns what and the contacts metric starts moving from day one.</a:t>
            </a:r>
            <a:endParaRPr i="0" sz="950" u="none" cap="none" strike="noStrike">
              <a:solidFill>
                <a:srgbClr val="FFFFFF"/>
              </a:solidFill>
              <a:latin typeface="Lato"/>
              <a:ea typeface="Lato"/>
              <a:cs typeface="Lato"/>
              <a:sym typeface="Lato"/>
            </a:endParaRPr>
          </a:p>
        </p:txBody>
      </p:sp>
      <p:sp>
        <p:nvSpPr>
          <p:cNvPr id="213" name="Google Shape;213;p10"/>
          <p:cNvSpPr/>
          <p:nvPr/>
        </p:nvSpPr>
        <p:spPr>
          <a:xfrm>
            <a:off x="3364992" y="3639312"/>
            <a:ext cx="2423160" cy="256032"/>
          </a:xfrm>
          <a:prstGeom prst="roundRect">
            <a:avLst>
              <a:gd fmla="val 14286" name="adj"/>
            </a:avLst>
          </a:prstGeom>
          <a:solidFill>
            <a:srgbClr val="0F1628"/>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14" name="Google Shape;214;p10"/>
          <p:cNvSpPr/>
          <p:nvPr/>
        </p:nvSpPr>
        <p:spPr>
          <a:xfrm>
            <a:off x="3364992" y="3648456"/>
            <a:ext cx="24231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5EA7"/>
              </a:buClr>
              <a:buSzPts val="900"/>
              <a:buFont typeface="Calibri"/>
              <a:buNone/>
            </a:pPr>
            <a:r>
              <a:rPr i="0" lang="en-US" sz="900" u="none" cap="none" strike="noStrike">
                <a:solidFill>
                  <a:srgbClr val="7B5EA7"/>
                </a:solidFill>
                <a:latin typeface="Lato"/>
                <a:ea typeface="Lato"/>
                <a:cs typeface="Lato"/>
                <a:sym typeface="Lato"/>
              </a:rPr>
              <a:t>Adoption &amp; Data Quality</a:t>
            </a:r>
            <a:endParaRPr i="0" sz="900" u="none" cap="none" strike="noStrike">
              <a:solidFill>
                <a:schemeClr val="dk1"/>
              </a:solidFill>
              <a:latin typeface="Lato"/>
              <a:ea typeface="Lato"/>
              <a:cs typeface="Lato"/>
              <a:sym typeface="Lato"/>
            </a:endParaRPr>
          </a:p>
        </p:txBody>
      </p:sp>
      <p:sp>
        <p:nvSpPr>
          <p:cNvPr id="215" name="Google Shape;215;p10"/>
          <p:cNvSpPr/>
          <p:nvPr/>
        </p:nvSpPr>
        <p:spPr>
          <a:xfrm>
            <a:off x="3364992" y="3931920"/>
            <a:ext cx="24231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6B0"/>
              </a:buClr>
              <a:buSzPts val="900"/>
              <a:buFont typeface="Calibri"/>
              <a:buNone/>
            </a:pPr>
            <a:r>
              <a:rPr i="0" lang="en-US" sz="900" u="none" cap="none" strike="noStrike">
                <a:solidFill>
                  <a:srgbClr val="FFFFFF"/>
                </a:solidFill>
                <a:latin typeface="Lato"/>
                <a:ea typeface="Lato"/>
                <a:cs typeface="Lato"/>
                <a:sym typeface="Lato"/>
              </a:rPr>
              <a:t>Live by: End of Week 3</a:t>
            </a:r>
            <a:endParaRPr i="0" sz="900" u="none" cap="none" strike="noStrike">
              <a:solidFill>
                <a:srgbClr val="FFFFFF"/>
              </a:solidFill>
              <a:latin typeface="Lato"/>
              <a:ea typeface="Lato"/>
              <a:cs typeface="Lato"/>
              <a:sym typeface="Lato"/>
            </a:endParaRPr>
          </a:p>
        </p:txBody>
      </p:sp>
      <p:sp>
        <p:nvSpPr>
          <p:cNvPr id="216" name="Google Shape;216;p10"/>
          <p:cNvSpPr/>
          <p:nvPr/>
        </p:nvSpPr>
        <p:spPr>
          <a:xfrm>
            <a:off x="6080760" y="987552"/>
            <a:ext cx="2743200" cy="3840480"/>
          </a:xfrm>
          <a:prstGeom prst="roundRect">
            <a:avLst>
              <a:gd fmla="val 2667"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17" name="Google Shape;217;p10"/>
          <p:cNvSpPr/>
          <p:nvPr/>
        </p:nvSpPr>
        <p:spPr>
          <a:xfrm>
            <a:off x="6245352" y="1115568"/>
            <a:ext cx="384048" cy="384048"/>
          </a:xfrm>
          <a:prstGeom prst="ellipse">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18" name="Google Shape;218;p10"/>
          <p:cNvSpPr/>
          <p:nvPr/>
        </p:nvSpPr>
        <p:spPr>
          <a:xfrm>
            <a:off x="6245352" y="1115568"/>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Lato"/>
                <a:ea typeface="Lato"/>
                <a:cs typeface="Lato"/>
                <a:sym typeface="Lato"/>
              </a:rPr>
              <a:t>3</a:t>
            </a:r>
            <a:endParaRPr i="0" sz="1300" u="none" cap="none" strike="noStrike">
              <a:solidFill>
                <a:schemeClr val="dk1"/>
              </a:solidFill>
              <a:latin typeface="Lato"/>
              <a:ea typeface="Lato"/>
              <a:cs typeface="Lato"/>
              <a:sym typeface="Lato"/>
            </a:endParaRPr>
          </a:p>
        </p:txBody>
      </p:sp>
      <p:sp>
        <p:nvSpPr>
          <p:cNvPr id="219" name="Google Shape;219;p10"/>
          <p:cNvSpPr/>
          <p:nvPr/>
        </p:nvSpPr>
        <p:spPr>
          <a:xfrm>
            <a:off x="6720840" y="1133856"/>
            <a:ext cx="1920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Lato"/>
                <a:ea typeface="Lato"/>
                <a:cs typeface="Lato"/>
                <a:sym typeface="Lato"/>
              </a:rPr>
              <a:t>Pipeline Rebuilt &amp; First Live Forecast</a:t>
            </a:r>
            <a:endParaRPr i="0" sz="1200" u="none" cap="none" strike="noStrike">
              <a:solidFill>
                <a:srgbClr val="FFFFFF"/>
              </a:solidFill>
              <a:latin typeface="Lato"/>
              <a:ea typeface="Lato"/>
              <a:cs typeface="Lato"/>
              <a:sym typeface="Lato"/>
            </a:endParaRPr>
          </a:p>
        </p:txBody>
      </p:sp>
      <p:sp>
        <p:nvSpPr>
          <p:cNvPr id="220" name="Google Shape;220;p10"/>
          <p:cNvSpPr/>
          <p:nvPr/>
        </p:nvSpPr>
        <p:spPr>
          <a:xfrm>
            <a:off x="6245352" y="1600200"/>
            <a:ext cx="2423160" cy="1965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rgbClr val="FFFFFF"/>
                </a:solidFill>
                <a:latin typeface="Lato"/>
                <a:ea typeface="Lato"/>
                <a:cs typeface="Lato"/>
                <a:sym typeface="Lato"/>
              </a:rPr>
              <a:t>The sales pipeline rebuilt from the ground up with the right stages, deal structure, and ownership. </a:t>
            </a:r>
            <a:r>
              <a:rPr lang="en-US" sz="950">
                <a:solidFill>
                  <a:srgbClr val="FFFFFF"/>
                </a:solidFill>
                <a:latin typeface="Lato"/>
                <a:ea typeface="Lato"/>
                <a:cs typeface="Lato"/>
                <a:sym typeface="Lato"/>
              </a:rPr>
              <a:t>TBA </a:t>
            </a:r>
            <a:r>
              <a:rPr i="0" lang="en-US" sz="950" u="none" cap="none" strike="noStrike">
                <a:solidFill>
                  <a:srgbClr val="FFFFFF"/>
                </a:solidFill>
                <a:latin typeface="Lato"/>
                <a:ea typeface="Lato"/>
                <a:cs typeface="Lato"/>
                <a:sym typeface="Lato"/>
              </a:rPr>
              <a:t>opens HubSpot and sees a real, usable pipeline for the first time</a:t>
            </a:r>
            <a:r>
              <a:rPr lang="en-US" sz="950">
                <a:solidFill>
                  <a:srgbClr val="FFFFFF"/>
                </a:solidFill>
                <a:latin typeface="Lato"/>
                <a:ea typeface="Lato"/>
                <a:cs typeface="Lato"/>
                <a:sym typeface="Lato"/>
              </a:rPr>
              <a:t>, </a:t>
            </a:r>
            <a:r>
              <a:rPr i="0" lang="en-US" sz="950" u="none" cap="none" strike="noStrike">
                <a:solidFill>
                  <a:srgbClr val="FFFFFF"/>
                </a:solidFill>
                <a:latin typeface="Lato"/>
                <a:ea typeface="Lato"/>
                <a:cs typeface="Lato"/>
                <a:sym typeface="Lato"/>
              </a:rPr>
              <a:t>something he can show in a board meeting and actually trust.</a:t>
            </a:r>
            <a:endParaRPr i="0" sz="950" u="none" cap="none" strike="noStrike">
              <a:solidFill>
                <a:srgbClr val="FFFFFF"/>
              </a:solidFill>
              <a:latin typeface="Lato"/>
              <a:ea typeface="Lato"/>
              <a:cs typeface="Lato"/>
              <a:sym typeface="Lato"/>
            </a:endParaRPr>
          </a:p>
        </p:txBody>
      </p:sp>
      <p:sp>
        <p:nvSpPr>
          <p:cNvPr id="221" name="Google Shape;221;p10"/>
          <p:cNvSpPr/>
          <p:nvPr/>
        </p:nvSpPr>
        <p:spPr>
          <a:xfrm>
            <a:off x="6245352" y="3639312"/>
            <a:ext cx="2423160" cy="256032"/>
          </a:xfrm>
          <a:prstGeom prst="roundRect">
            <a:avLst>
              <a:gd fmla="val 14286" name="adj"/>
            </a:avLst>
          </a:prstGeom>
          <a:solidFill>
            <a:srgbClr val="0F1628"/>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22" name="Google Shape;222;p10"/>
          <p:cNvSpPr/>
          <p:nvPr/>
        </p:nvSpPr>
        <p:spPr>
          <a:xfrm>
            <a:off x="6245352" y="3648456"/>
            <a:ext cx="24231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5EA7"/>
              </a:buClr>
              <a:buSzPts val="900"/>
              <a:buFont typeface="Calibri"/>
              <a:buNone/>
            </a:pPr>
            <a:r>
              <a:rPr i="0" lang="en-US" sz="900" u="none" cap="none" strike="noStrike">
                <a:solidFill>
                  <a:srgbClr val="7B5EA7"/>
                </a:solidFill>
                <a:latin typeface="Lato"/>
                <a:ea typeface="Lato"/>
                <a:cs typeface="Lato"/>
                <a:sym typeface="Lato"/>
              </a:rPr>
              <a:t>Pipeline &amp; Visibility</a:t>
            </a:r>
            <a:endParaRPr i="0" sz="900" u="none" cap="none" strike="noStrike">
              <a:solidFill>
                <a:schemeClr val="dk1"/>
              </a:solidFill>
              <a:latin typeface="Lato"/>
              <a:ea typeface="Lato"/>
              <a:cs typeface="Lato"/>
              <a:sym typeface="Lato"/>
            </a:endParaRPr>
          </a:p>
        </p:txBody>
      </p:sp>
      <p:sp>
        <p:nvSpPr>
          <p:cNvPr id="223" name="Google Shape;223;p10"/>
          <p:cNvSpPr/>
          <p:nvPr/>
        </p:nvSpPr>
        <p:spPr>
          <a:xfrm>
            <a:off x="6245352" y="3931920"/>
            <a:ext cx="24231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6B0"/>
              </a:buClr>
              <a:buSzPts val="900"/>
              <a:buFont typeface="Calibri"/>
              <a:buNone/>
            </a:pPr>
            <a:r>
              <a:rPr i="0" lang="en-US" sz="900" u="none" cap="none" strike="noStrike">
                <a:solidFill>
                  <a:srgbClr val="FFFFFF"/>
                </a:solidFill>
                <a:latin typeface="Lato"/>
                <a:ea typeface="Lato"/>
                <a:cs typeface="Lato"/>
                <a:sym typeface="Lato"/>
              </a:rPr>
              <a:t>Live by: End of Week 4</a:t>
            </a:r>
            <a:endParaRPr i="0" sz="900" u="none" cap="none" strike="noStrike">
              <a:solidFill>
                <a:srgbClr val="FFFFFF"/>
              </a:solidFill>
              <a:latin typeface="Lato"/>
              <a:ea typeface="Lato"/>
              <a:cs typeface="Lato"/>
              <a:sym typeface="Lato"/>
            </a:endParaRPr>
          </a:p>
        </p:txBody>
      </p:sp>
      <p:sp>
        <p:nvSpPr>
          <p:cNvPr id="224" name="Google Shape;224;p10"/>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225" name="Google Shape;225;p10"/>
          <p:cNvCxnSpPr>
            <a:endCxn id="224"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226" name="Google Shape;226;p10"/>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2040"/>
        </a:solidFill>
      </p:bgPr>
    </p:bg>
    <p:spTree>
      <p:nvGrpSpPr>
        <p:cNvPr id="231" name="Shape 231"/>
        <p:cNvGrpSpPr/>
        <p:nvPr/>
      </p:nvGrpSpPr>
      <p:grpSpPr>
        <a:xfrm>
          <a:off x="0" y="0"/>
          <a:ext cx="0" cy="0"/>
          <a:chOff x="0" y="0"/>
          <a:chExt cx="0" cy="0"/>
        </a:xfrm>
      </p:grpSpPr>
      <p:sp>
        <p:nvSpPr>
          <p:cNvPr id="232" name="Google Shape;232;p11"/>
          <p:cNvSpPr/>
          <p:nvPr/>
        </p:nvSpPr>
        <p:spPr>
          <a:xfrm>
            <a:off x="457200" y="256032"/>
            <a:ext cx="82296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chemeClr val="lt1"/>
                </a:solidFill>
                <a:latin typeface="Lato"/>
                <a:ea typeface="Lato"/>
                <a:cs typeface="Lato"/>
                <a:sym typeface="Lato"/>
              </a:rPr>
              <a:t>4 Months Delivery Plan</a:t>
            </a:r>
            <a:endParaRPr i="0" sz="2600" u="none" cap="none" strike="noStrike">
              <a:solidFill>
                <a:schemeClr val="lt1"/>
              </a:solidFill>
              <a:latin typeface="Lato"/>
              <a:ea typeface="Lato"/>
              <a:cs typeface="Lato"/>
              <a:sym typeface="Lato"/>
            </a:endParaRPr>
          </a:p>
        </p:txBody>
      </p:sp>
      <p:sp>
        <p:nvSpPr>
          <p:cNvPr id="233" name="Google Shape;233;p11"/>
          <p:cNvSpPr/>
          <p:nvPr/>
        </p:nvSpPr>
        <p:spPr>
          <a:xfrm>
            <a:off x="45720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1100"/>
              <a:buFont typeface="Calibri"/>
              <a:buNone/>
            </a:pPr>
            <a:r>
              <a:rPr i="0" lang="en-US" sz="1100" u="none" cap="none" strike="noStrike">
                <a:solidFill>
                  <a:schemeClr val="lt1"/>
                </a:solidFill>
                <a:latin typeface="Lato"/>
                <a:ea typeface="Lato"/>
                <a:cs typeface="Lato"/>
                <a:sym typeface="Lato"/>
              </a:rPr>
              <a:t>Everything we deliver across the full engagement.</a:t>
            </a:r>
            <a:endParaRPr i="0" sz="1100" u="none" cap="none" strike="noStrike">
              <a:solidFill>
                <a:schemeClr val="lt1"/>
              </a:solidFill>
              <a:latin typeface="Lato"/>
              <a:ea typeface="Lato"/>
              <a:cs typeface="Lato"/>
              <a:sym typeface="Lato"/>
            </a:endParaRPr>
          </a:p>
        </p:txBody>
      </p:sp>
      <p:sp>
        <p:nvSpPr>
          <p:cNvPr id="234" name="Google Shape;234;p11"/>
          <p:cNvSpPr/>
          <p:nvPr/>
        </p:nvSpPr>
        <p:spPr>
          <a:xfrm>
            <a:off x="320040" y="987552"/>
            <a:ext cx="2011680" cy="3840480"/>
          </a:xfrm>
          <a:prstGeom prst="roundRect">
            <a:avLst>
              <a:gd fmla="val 3636"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235" name="Google Shape;235;p11"/>
          <p:cNvSpPr/>
          <p:nvPr/>
        </p:nvSpPr>
        <p:spPr>
          <a:xfrm>
            <a:off x="320040" y="987552"/>
            <a:ext cx="2011680" cy="548640"/>
          </a:xfrm>
          <a:prstGeom prst="rect">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236" name="Google Shape;236;p11"/>
          <p:cNvSpPr/>
          <p:nvPr/>
        </p:nvSpPr>
        <p:spPr>
          <a:xfrm>
            <a:off x="411480" y="1042416"/>
            <a:ext cx="1828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chemeClr val="lt1"/>
                </a:solidFill>
                <a:latin typeface="Lato"/>
                <a:ea typeface="Lato"/>
                <a:cs typeface="Lato"/>
                <a:sym typeface="Lato"/>
              </a:rPr>
              <a:t>PHASE 1</a:t>
            </a:r>
            <a:endParaRPr i="0" sz="900" u="none" cap="none" strike="noStrike">
              <a:solidFill>
                <a:schemeClr val="lt1"/>
              </a:solidFill>
              <a:latin typeface="Lato"/>
              <a:ea typeface="Lato"/>
              <a:cs typeface="Lato"/>
              <a:sym typeface="Lato"/>
            </a:endParaRPr>
          </a:p>
        </p:txBody>
      </p:sp>
      <p:sp>
        <p:nvSpPr>
          <p:cNvPr id="237" name="Google Shape;237;p11"/>
          <p:cNvSpPr/>
          <p:nvPr/>
        </p:nvSpPr>
        <p:spPr>
          <a:xfrm>
            <a:off x="411480" y="126187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DDFF"/>
              </a:buClr>
              <a:buSzPts val="900"/>
              <a:buFont typeface="Calibri"/>
              <a:buNone/>
            </a:pPr>
            <a:r>
              <a:rPr i="0" lang="en-US" sz="900" u="none" cap="none" strike="noStrike">
                <a:solidFill>
                  <a:schemeClr val="lt1"/>
                </a:solidFill>
                <a:latin typeface="Lato"/>
                <a:ea typeface="Lato"/>
                <a:cs typeface="Lato"/>
                <a:sym typeface="Lato"/>
              </a:rPr>
              <a:t>Weeks 1-2</a:t>
            </a:r>
            <a:endParaRPr i="0" sz="900" u="none" cap="none" strike="noStrike">
              <a:solidFill>
                <a:schemeClr val="lt1"/>
              </a:solidFill>
              <a:latin typeface="Lato"/>
              <a:ea typeface="Lato"/>
              <a:cs typeface="Lato"/>
              <a:sym typeface="Lato"/>
            </a:endParaRPr>
          </a:p>
        </p:txBody>
      </p:sp>
      <p:sp>
        <p:nvSpPr>
          <p:cNvPr id="238" name="Google Shape;238;p11"/>
          <p:cNvSpPr/>
          <p:nvPr/>
        </p:nvSpPr>
        <p:spPr>
          <a:xfrm>
            <a:off x="411480" y="1600200"/>
            <a:ext cx="1828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chemeClr val="lt1"/>
                </a:solidFill>
                <a:latin typeface="Lato"/>
                <a:ea typeface="Lato"/>
                <a:cs typeface="Lato"/>
                <a:sym typeface="Lato"/>
              </a:rPr>
              <a:t>Foundations</a:t>
            </a:r>
            <a:endParaRPr i="0" sz="1200" u="none" cap="none" strike="noStrike">
              <a:solidFill>
                <a:schemeClr val="lt1"/>
              </a:solidFill>
              <a:latin typeface="Lato"/>
              <a:ea typeface="Lato"/>
              <a:cs typeface="Lato"/>
              <a:sym typeface="Lato"/>
            </a:endParaRPr>
          </a:p>
        </p:txBody>
      </p:sp>
      <p:sp>
        <p:nvSpPr>
          <p:cNvPr id="239" name="Google Shape;239;p11"/>
          <p:cNvSpPr/>
          <p:nvPr/>
        </p:nvSpPr>
        <p:spPr>
          <a:xfrm>
            <a:off x="411480" y="1993392"/>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Portal audit &amp; health scorecard</a:t>
            </a:r>
            <a:endParaRPr i="0" sz="950" u="none" cap="none" strike="noStrike">
              <a:solidFill>
                <a:schemeClr val="lt1"/>
              </a:solidFill>
              <a:latin typeface="Lato"/>
              <a:ea typeface="Lato"/>
              <a:cs typeface="Lato"/>
              <a:sym typeface="Lato"/>
            </a:endParaRPr>
          </a:p>
        </p:txBody>
      </p:sp>
      <p:sp>
        <p:nvSpPr>
          <p:cNvPr id="240" name="Google Shape;240;p11"/>
          <p:cNvSpPr/>
          <p:nvPr/>
        </p:nvSpPr>
        <p:spPr>
          <a:xfrm>
            <a:off x="411480" y="2377440"/>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CRM architecture blueprint</a:t>
            </a:r>
            <a:endParaRPr i="0" sz="950" u="none" cap="none" strike="noStrike">
              <a:solidFill>
                <a:schemeClr val="lt1"/>
              </a:solidFill>
              <a:latin typeface="Lato"/>
              <a:ea typeface="Lato"/>
              <a:cs typeface="Lato"/>
              <a:sym typeface="Lato"/>
            </a:endParaRPr>
          </a:p>
        </p:txBody>
      </p:sp>
      <p:sp>
        <p:nvSpPr>
          <p:cNvPr id="241" name="Google Shape;241;p11"/>
          <p:cNvSpPr/>
          <p:nvPr/>
        </p:nvSpPr>
        <p:spPr>
          <a:xfrm>
            <a:off x="411480" y="2761488"/>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Prioritised implementation roadmap</a:t>
            </a:r>
            <a:endParaRPr i="0" sz="950" u="none" cap="none" strike="noStrike">
              <a:solidFill>
                <a:schemeClr val="lt1"/>
              </a:solidFill>
              <a:latin typeface="Lato"/>
              <a:ea typeface="Lato"/>
              <a:cs typeface="Lato"/>
              <a:sym typeface="Lato"/>
            </a:endParaRPr>
          </a:p>
        </p:txBody>
      </p:sp>
      <p:sp>
        <p:nvSpPr>
          <p:cNvPr id="242" name="Google Shape;242;p11"/>
          <p:cNvSpPr/>
          <p:nvPr/>
        </p:nvSpPr>
        <p:spPr>
          <a:xfrm>
            <a:off x="411480" y="3145536"/>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Data quality baseline established</a:t>
            </a:r>
            <a:endParaRPr i="0" sz="950" u="none" cap="none" strike="noStrike">
              <a:solidFill>
                <a:schemeClr val="lt1"/>
              </a:solidFill>
              <a:latin typeface="Lato"/>
              <a:ea typeface="Lato"/>
              <a:cs typeface="Lato"/>
              <a:sym typeface="Lato"/>
            </a:endParaRPr>
          </a:p>
        </p:txBody>
      </p:sp>
      <p:sp>
        <p:nvSpPr>
          <p:cNvPr id="243" name="Google Shape;243;p11"/>
          <p:cNvSpPr/>
          <p:nvPr/>
        </p:nvSpPr>
        <p:spPr>
          <a:xfrm>
            <a:off x="2468880" y="987552"/>
            <a:ext cx="2011680" cy="3840480"/>
          </a:xfrm>
          <a:prstGeom prst="roundRect">
            <a:avLst>
              <a:gd fmla="val 3636"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244" name="Google Shape;244;p11"/>
          <p:cNvSpPr/>
          <p:nvPr/>
        </p:nvSpPr>
        <p:spPr>
          <a:xfrm>
            <a:off x="2468880" y="987552"/>
            <a:ext cx="2011680" cy="548640"/>
          </a:xfrm>
          <a:prstGeom prst="rect">
            <a:avLst/>
          </a:prstGeom>
          <a:solidFill>
            <a:srgbClr val="3B7DD8"/>
          </a:solidFill>
          <a:ln cap="flat" cmpd="sng" w="12700">
            <a:solidFill>
              <a:srgbClr val="3B7D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245" name="Google Shape;245;p11"/>
          <p:cNvSpPr/>
          <p:nvPr/>
        </p:nvSpPr>
        <p:spPr>
          <a:xfrm>
            <a:off x="2560320" y="1042416"/>
            <a:ext cx="1828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chemeClr val="lt1"/>
                </a:solidFill>
                <a:latin typeface="Lato"/>
                <a:ea typeface="Lato"/>
                <a:cs typeface="Lato"/>
                <a:sym typeface="Lato"/>
              </a:rPr>
              <a:t>PHASE 2</a:t>
            </a:r>
            <a:endParaRPr i="0" sz="900" u="none" cap="none" strike="noStrike">
              <a:solidFill>
                <a:schemeClr val="lt1"/>
              </a:solidFill>
              <a:latin typeface="Lato"/>
              <a:ea typeface="Lato"/>
              <a:cs typeface="Lato"/>
              <a:sym typeface="Lato"/>
            </a:endParaRPr>
          </a:p>
        </p:txBody>
      </p:sp>
      <p:sp>
        <p:nvSpPr>
          <p:cNvPr id="246" name="Google Shape;246;p11"/>
          <p:cNvSpPr/>
          <p:nvPr/>
        </p:nvSpPr>
        <p:spPr>
          <a:xfrm>
            <a:off x="2560320" y="126187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DDFF"/>
              </a:buClr>
              <a:buSzPts val="900"/>
              <a:buFont typeface="Calibri"/>
              <a:buNone/>
            </a:pPr>
            <a:r>
              <a:rPr i="0" lang="en-US" sz="900" u="none" cap="none" strike="noStrike">
                <a:solidFill>
                  <a:schemeClr val="lt1"/>
                </a:solidFill>
                <a:latin typeface="Lato"/>
                <a:ea typeface="Lato"/>
                <a:cs typeface="Lato"/>
                <a:sym typeface="Lato"/>
              </a:rPr>
              <a:t>Weeks 3-8</a:t>
            </a:r>
            <a:endParaRPr i="0" sz="900" u="none" cap="none" strike="noStrike">
              <a:solidFill>
                <a:schemeClr val="lt1"/>
              </a:solidFill>
              <a:latin typeface="Lato"/>
              <a:ea typeface="Lato"/>
              <a:cs typeface="Lato"/>
              <a:sym typeface="Lato"/>
            </a:endParaRPr>
          </a:p>
        </p:txBody>
      </p:sp>
      <p:sp>
        <p:nvSpPr>
          <p:cNvPr id="247" name="Google Shape;247;p11"/>
          <p:cNvSpPr/>
          <p:nvPr/>
        </p:nvSpPr>
        <p:spPr>
          <a:xfrm>
            <a:off x="2560320" y="1600200"/>
            <a:ext cx="1828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chemeClr val="lt1"/>
                </a:solidFill>
                <a:latin typeface="Lato"/>
                <a:ea typeface="Lato"/>
                <a:cs typeface="Lato"/>
                <a:sym typeface="Lato"/>
              </a:rPr>
              <a:t>Data &amp; Pipeline</a:t>
            </a:r>
            <a:endParaRPr i="0" sz="1200" u="none" cap="none" strike="noStrike">
              <a:solidFill>
                <a:schemeClr val="lt1"/>
              </a:solidFill>
              <a:latin typeface="Lato"/>
              <a:ea typeface="Lato"/>
              <a:cs typeface="Lato"/>
              <a:sym typeface="Lato"/>
            </a:endParaRPr>
          </a:p>
        </p:txBody>
      </p:sp>
      <p:sp>
        <p:nvSpPr>
          <p:cNvPr id="248" name="Google Shape;248;p11"/>
          <p:cNvSpPr/>
          <p:nvPr/>
        </p:nvSpPr>
        <p:spPr>
          <a:xfrm>
            <a:off x="2560320" y="1993392"/>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Contact ownership restructuring</a:t>
            </a:r>
            <a:endParaRPr i="0" sz="950" u="none" cap="none" strike="noStrike">
              <a:solidFill>
                <a:schemeClr val="lt1"/>
              </a:solidFill>
              <a:latin typeface="Lato"/>
              <a:ea typeface="Lato"/>
              <a:cs typeface="Lato"/>
              <a:sym typeface="Lato"/>
            </a:endParaRPr>
          </a:p>
        </p:txBody>
      </p:sp>
      <p:sp>
        <p:nvSpPr>
          <p:cNvPr id="249" name="Google Shape;249;p11"/>
          <p:cNvSpPr/>
          <p:nvPr/>
        </p:nvSpPr>
        <p:spPr>
          <a:xfrm>
            <a:off x="2560320" y="2377440"/>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Lead status &amp; lifecycle alignment</a:t>
            </a:r>
            <a:endParaRPr i="0" sz="950" u="none" cap="none" strike="noStrike">
              <a:solidFill>
                <a:schemeClr val="lt1"/>
              </a:solidFill>
              <a:latin typeface="Lato"/>
              <a:ea typeface="Lato"/>
              <a:cs typeface="Lato"/>
              <a:sym typeface="Lato"/>
            </a:endParaRPr>
          </a:p>
        </p:txBody>
      </p:sp>
      <p:sp>
        <p:nvSpPr>
          <p:cNvPr id="250" name="Google Shape;250;p11"/>
          <p:cNvSpPr/>
          <p:nvPr/>
        </p:nvSpPr>
        <p:spPr>
          <a:xfrm>
            <a:off x="2560320" y="2761488"/>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Pipeline rebuild &amp; deal structure</a:t>
            </a:r>
            <a:endParaRPr i="0" sz="950" u="none" cap="none" strike="noStrike">
              <a:solidFill>
                <a:schemeClr val="lt1"/>
              </a:solidFill>
              <a:latin typeface="Lato"/>
              <a:ea typeface="Lato"/>
              <a:cs typeface="Lato"/>
              <a:sym typeface="Lato"/>
            </a:endParaRPr>
          </a:p>
        </p:txBody>
      </p:sp>
      <p:sp>
        <p:nvSpPr>
          <p:cNvPr id="251" name="Google Shape;251;p11"/>
          <p:cNvSpPr/>
          <p:nvPr/>
        </p:nvSpPr>
        <p:spPr>
          <a:xfrm>
            <a:off x="2560320" y="3145536"/>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Sales workspace configuration</a:t>
            </a:r>
            <a:endParaRPr i="0" sz="950" u="none" cap="none" strike="noStrike">
              <a:solidFill>
                <a:schemeClr val="lt1"/>
              </a:solidFill>
              <a:latin typeface="Lato"/>
              <a:ea typeface="Lato"/>
              <a:cs typeface="Lato"/>
              <a:sym typeface="Lato"/>
            </a:endParaRPr>
          </a:p>
        </p:txBody>
      </p:sp>
      <p:sp>
        <p:nvSpPr>
          <p:cNvPr id="252" name="Google Shape;252;p11"/>
          <p:cNvSpPr/>
          <p:nvPr/>
        </p:nvSpPr>
        <p:spPr>
          <a:xfrm>
            <a:off x="4617720" y="987552"/>
            <a:ext cx="2011680" cy="3840480"/>
          </a:xfrm>
          <a:prstGeom prst="roundRect">
            <a:avLst>
              <a:gd fmla="val 3636"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253" name="Google Shape;253;p11"/>
          <p:cNvSpPr/>
          <p:nvPr/>
        </p:nvSpPr>
        <p:spPr>
          <a:xfrm>
            <a:off x="4617720" y="987552"/>
            <a:ext cx="2011680" cy="548640"/>
          </a:xfrm>
          <a:prstGeom prst="rect">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254" name="Google Shape;254;p11"/>
          <p:cNvSpPr/>
          <p:nvPr/>
        </p:nvSpPr>
        <p:spPr>
          <a:xfrm>
            <a:off x="4709160" y="1042416"/>
            <a:ext cx="1828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chemeClr val="lt1"/>
                </a:solidFill>
                <a:latin typeface="Lato"/>
                <a:ea typeface="Lato"/>
                <a:cs typeface="Lato"/>
                <a:sym typeface="Lato"/>
              </a:rPr>
              <a:t>PHASE 3</a:t>
            </a:r>
            <a:endParaRPr i="0" sz="900" u="none" cap="none" strike="noStrike">
              <a:solidFill>
                <a:schemeClr val="lt1"/>
              </a:solidFill>
              <a:latin typeface="Lato"/>
              <a:ea typeface="Lato"/>
              <a:cs typeface="Lato"/>
              <a:sym typeface="Lato"/>
            </a:endParaRPr>
          </a:p>
        </p:txBody>
      </p:sp>
      <p:sp>
        <p:nvSpPr>
          <p:cNvPr id="255" name="Google Shape;255;p11"/>
          <p:cNvSpPr/>
          <p:nvPr/>
        </p:nvSpPr>
        <p:spPr>
          <a:xfrm>
            <a:off x="4709160" y="126187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DDFF"/>
              </a:buClr>
              <a:buSzPts val="900"/>
              <a:buFont typeface="Calibri"/>
              <a:buNone/>
            </a:pPr>
            <a:r>
              <a:rPr i="0" lang="en-US" sz="900" u="none" cap="none" strike="noStrike">
                <a:solidFill>
                  <a:schemeClr val="lt1"/>
                </a:solidFill>
                <a:latin typeface="Lato"/>
                <a:ea typeface="Lato"/>
                <a:cs typeface="Lato"/>
                <a:sym typeface="Lato"/>
              </a:rPr>
              <a:t>Weeks 9-12</a:t>
            </a:r>
            <a:endParaRPr i="0" sz="900" u="none" cap="none" strike="noStrike">
              <a:solidFill>
                <a:schemeClr val="lt1"/>
              </a:solidFill>
              <a:latin typeface="Lato"/>
              <a:ea typeface="Lato"/>
              <a:cs typeface="Lato"/>
              <a:sym typeface="Lato"/>
            </a:endParaRPr>
          </a:p>
        </p:txBody>
      </p:sp>
      <p:sp>
        <p:nvSpPr>
          <p:cNvPr id="256" name="Google Shape;256;p11"/>
          <p:cNvSpPr/>
          <p:nvPr/>
        </p:nvSpPr>
        <p:spPr>
          <a:xfrm>
            <a:off x="4709160" y="1600200"/>
            <a:ext cx="1828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chemeClr val="lt1"/>
                </a:solidFill>
                <a:latin typeface="Lato"/>
                <a:ea typeface="Lato"/>
                <a:cs typeface="Lato"/>
                <a:sym typeface="Lato"/>
              </a:rPr>
              <a:t>Automations</a:t>
            </a:r>
            <a:endParaRPr i="0" sz="1200" u="none" cap="none" strike="noStrike">
              <a:solidFill>
                <a:schemeClr val="lt1"/>
              </a:solidFill>
              <a:latin typeface="Lato"/>
              <a:ea typeface="Lato"/>
              <a:cs typeface="Lato"/>
              <a:sym typeface="Lato"/>
            </a:endParaRPr>
          </a:p>
        </p:txBody>
      </p:sp>
      <p:sp>
        <p:nvSpPr>
          <p:cNvPr id="257" name="Google Shape;257;p11"/>
          <p:cNvSpPr/>
          <p:nvPr/>
        </p:nvSpPr>
        <p:spPr>
          <a:xfrm>
            <a:off x="4709160" y="1993392"/>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Workflow optimisation</a:t>
            </a:r>
            <a:endParaRPr i="0" sz="950" u="none" cap="none" strike="noStrike">
              <a:solidFill>
                <a:schemeClr val="lt1"/>
              </a:solidFill>
              <a:latin typeface="Lato"/>
              <a:ea typeface="Lato"/>
              <a:cs typeface="Lato"/>
              <a:sym typeface="Lato"/>
            </a:endParaRPr>
          </a:p>
        </p:txBody>
      </p:sp>
      <p:sp>
        <p:nvSpPr>
          <p:cNvPr id="258" name="Google Shape;258;p11"/>
          <p:cNvSpPr/>
          <p:nvPr/>
        </p:nvSpPr>
        <p:spPr>
          <a:xfrm>
            <a:off x="4709160" y="2377440"/>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3CX &amp; website integration</a:t>
            </a:r>
            <a:endParaRPr i="0" sz="950" u="none" cap="none" strike="noStrike">
              <a:solidFill>
                <a:schemeClr val="lt1"/>
              </a:solidFill>
              <a:latin typeface="Lato"/>
              <a:ea typeface="Lato"/>
              <a:cs typeface="Lato"/>
              <a:sym typeface="Lato"/>
            </a:endParaRPr>
          </a:p>
        </p:txBody>
      </p:sp>
      <p:sp>
        <p:nvSpPr>
          <p:cNvPr id="259" name="Google Shape;259;p11"/>
          <p:cNvSpPr/>
          <p:nvPr/>
        </p:nvSpPr>
        <p:spPr>
          <a:xfrm>
            <a:off x="4709160" y="2761488"/>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Sales enablement setup</a:t>
            </a:r>
            <a:endParaRPr i="0" sz="950" u="none" cap="none" strike="noStrike">
              <a:solidFill>
                <a:schemeClr val="lt1"/>
              </a:solidFill>
              <a:latin typeface="Lato"/>
              <a:ea typeface="Lato"/>
              <a:cs typeface="Lato"/>
              <a:sym typeface="Lato"/>
            </a:endParaRPr>
          </a:p>
        </p:txBody>
      </p:sp>
      <p:sp>
        <p:nvSpPr>
          <p:cNvPr id="260" name="Google Shape;260;p11"/>
          <p:cNvSpPr/>
          <p:nvPr/>
        </p:nvSpPr>
        <p:spPr>
          <a:xfrm>
            <a:off x="4709160" y="3145536"/>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Ticketing &amp; aftersales</a:t>
            </a:r>
            <a:endParaRPr i="0" sz="950" u="none" cap="none" strike="noStrike">
              <a:solidFill>
                <a:schemeClr val="lt1"/>
              </a:solidFill>
              <a:latin typeface="Lato"/>
              <a:ea typeface="Lato"/>
              <a:cs typeface="Lato"/>
              <a:sym typeface="Lato"/>
            </a:endParaRPr>
          </a:p>
        </p:txBody>
      </p:sp>
      <p:sp>
        <p:nvSpPr>
          <p:cNvPr id="261" name="Google Shape;261;p11"/>
          <p:cNvSpPr/>
          <p:nvPr/>
        </p:nvSpPr>
        <p:spPr>
          <a:xfrm>
            <a:off x="6766560" y="987552"/>
            <a:ext cx="2011680" cy="3840480"/>
          </a:xfrm>
          <a:prstGeom prst="roundRect">
            <a:avLst>
              <a:gd fmla="val 3636" name="adj"/>
            </a:avLst>
          </a:prstGeom>
          <a:solidFill>
            <a:srgbClr val="1E2A4A"/>
          </a:solidFill>
          <a:ln cap="flat" cmpd="sng" w="9525">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262" name="Google Shape;262;p11"/>
          <p:cNvSpPr/>
          <p:nvPr/>
        </p:nvSpPr>
        <p:spPr>
          <a:xfrm>
            <a:off x="6766560" y="987552"/>
            <a:ext cx="2011680" cy="548640"/>
          </a:xfrm>
          <a:prstGeom prst="rect">
            <a:avLst/>
          </a:prstGeom>
          <a:solidFill>
            <a:srgbClr val="E76F51"/>
          </a:solidFill>
          <a:ln cap="flat" cmpd="sng" w="1270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263" name="Google Shape;263;p11"/>
          <p:cNvSpPr/>
          <p:nvPr/>
        </p:nvSpPr>
        <p:spPr>
          <a:xfrm>
            <a:off x="6858000" y="1042416"/>
            <a:ext cx="1828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chemeClr val="lt1"/>
                </a:solidFill>
                <a:latin typeface="Lato"/>
                <a:ea typeface="Lato"/>
                <a:cs typeface="Lato"/>
                <a:sym typeface="Lato"/>
              </a:rPr>
              <a:t>PHASE 4</a:t>
            </a:r>
            <a:endParaRPr i="0" sz="900" u="none" cap="none" strike="noStrike">
              <a:solidFill>
                <a:schemeClr val="lt1"/>
              </a:solidFill>
              <a:latin typeface="Lato"/>
              <a:ea typeface="Lato"/>
              <a:cs typeface="Lato"/>
              <a:sym typeface="Lato"/>
            </a:endParaRPr>
          </a:p>
        </p:txBody>
      </p:sp>
      <p:sp>
        <p:nvSpPr>
          <p:cNvPr id="264" name="Google Shape;264;p11"/>
          <p:cNvSpPr/>
          <p:nvPr/>
        </p:nvSpPr>
        <p:spPr>
          <a:xfrm>
            <a:off x="6858000" y="126187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CDDFF"/>
              </a:buClr>
              <a:buSzPts val="900"/>
              <a:buFont typeface="Calibri"/>
              <a:buNone/>
            </a:pPr>
            <a:r>
              <a:rPr i="0" lang="en-US" sz="900" u="none" cap="none" strike="noStrike">
                <a:solidFill>
                  <a:schemeClr val="lt1"/>
                </a:solidFill>
                <a:latin typeface="Lato"/>
                <a:ea typeface="Lato"/>
                <a:cs typeface="Lato"/>
                <a:sym typeface="Lato"/>
              </a:rPr>
              <a:t>Weeks 13-16</a:t>
            </a:r>
            <a:endParaRPr i="0" sz="900" u="none" cap="none" strike="noStrike">
              <a:solidFill>
                <a:schemeClr val="lt1"/>
              </a:solidFill>
              <a:latin typeface="Lato"/>
              <a:ea typeface="Lato"/>
              <a:cs typeface="Lato"/>
              <a:sym typeface="Lato"/>
            </a:endParaRPr>
          </a:p>
        </p:txBody>
      </p:sp>
      <p:sp>
        <p:nvSpPr>
          <p:cNvPr id="265" name="Google Shape;265;p11"/>
          <p:cNvSpPr/>
          <p:nvPr/>
        </p:nvSpPr>
        <p:spPr>
          <a:xfrm>
            <a:off x="6858000" y="1600200"/>
            <a:ext cx="1828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chemeClr val="lt1"/>
                </a:solidFill>
                <a:latin typeface="Lato"/>
                <a:ea typeface="Lato"/>
                <a:cs typeface="Lato"/>
                <a:sym typeface="Lato"/>
              </a:rPr>
              <a:t>Reporting &amp; Growth</a:t>
            </a:r>
            <a:endParaRPr i="0" sz="1200" u="none" cap="none" strike="noStrike">
              <a:solidFill>
                <a:schemeClr val="lt1"/>
              </a:solidFill>
              <a:latin typeface="Lato"/>
              <a:ea typeface="Lato"/>
              <a:cs typeface="Lato"/>
              <a:sym typeface="Lato"/>
            </a:endParaRPr>
          </a:p>
        </p:txBody>
      </p:sp>
      <p:sp>
        <p:nvSpPr>
          <p:cNvPr id="266" name="Google Shape;266;p11"/>
          <p:cNvSpPr/>
          <p:nvPr/>
        </p:nvSpPr>
        <p:spPr>
          <a:xfrm>
            <a:off x="6858000" y="1993392"/>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Dashboards &amp; forecasting</a:t>
            </a:r>
            <a:endParaRPr i="0" sz="950" u="none" cap="none" strike="noStrike">
              <a:solidFill>
                <a:schemeClr val="lt1"/>
              </a:solidFill>
              <a:latin typeface="Lato"/>
              <a:ea typeface="Lato"/>
              <a:cs typeface="Lato"/>
              <a:sym typeface="Lato"/>
            </a:endParaRPr>
          </a:p>
        </p:txBody>
      </p:sp>
      <p:sp>
        <p:nvSpPr>
          <p:cNvPr id="267" name="Google Shape;267;p11"/>
          <p:cNvSpPr/>
          <p:nvPr/>
        </p:nvSpPr>
        <p:spPr>
          <a:xfrm>
            <a:off x="6858000" y="2377440"/>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Attribution tracking</a:t>
            </a:r>
            <a:endParaRPr i="0" sz="950" u="none" cap="none" strike="noStrike">
              <a:solidFill>
                <a:schemeClr val="lt1"/>
              </a:solidFill>
              <a:latin typeface="Lato"/>
              <a:ea typeface="Lato"/>
              <a:cs typeface="Lato"/>
              <a:sym typeface="Lato"/>
            </a:endParaRPr>
          </a:p>
        </p:txBody>
      </p:sp>
      <p:sp>
        <p:nvSpPr>
          <p:cNvPr id="268" name="Google Shape;268;p11"/>
          <p:cNvSpPr/>
          <p:nvPr/>
        </p:nvSpPr>
        <p:spPr>
          <a:xfrm>
            <a:off x="6858000" y="2761488"/>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Marketing foundations</a:t>
            </a:r>
            <a:endParaRPr i="0" sz="950" u="none" cap="none" strike="noStrike">
              <a:solidFill>
                <a:schemeClr val="lt1"/>
              </a:solidFill>
              <a:latin typeface="Lato"/>
              <a:ea typeface="Lato"/>
              <a:cs typeface="Lato"/>
              <a:sym typeface="Lato"/>
            </a:endParaRPr>
          </a:p>
        </p:txBody>
      </p:sp>
      <p:sp>
        <p:nvSpPr>
          <p:cNvPr id="269" name="Google Shape;269;p11"/>
          <p:cNvSpPr/>
          <p:nvPr/>
        </p:nvSpPr>
        <p:spPr>
          <a:xfrm>
            <a:off x="6858000" y="3145536"/>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950"/>
              <a:buFont typeface="Calibri"/>
              <a:buNone/>
            </a:pPr>
            <a:r>
              <a:rPr i="0" lang="en-US" sz="950" u="none" cap="none" strike="noStrike">
                <a:solidFill>
                  <a:schemeClr val="lt1"/>
                </a:solidFill>
                <a:latin typeface="Lato"/>
                <a:ea typeface="Lato"/>
                <a:cs typeface="Lato"/>
                <a:sym typeface="Lato"/>
              </a:rPr>
              <a:t>• Group rollout planning</a:t>
            </a:r>
            <a:endParaRPr i="0" sz="950" u="none" cap="none" strike="noStrike">
              <a:solidFill>
                <a:schemeClr val="lt1"/>
              </a:solidFill>
              <a:latin typeface="Lato"/>
              <a:ea typeface="Lato"/>
              <a:cs typeface="Lato"/>
              <a:sym typeface="Lato"/>
            </a:endParaRPr>
          </a:p>
        </p:txBody>
      </p:sp>
      <p:sp>
        <p:nvSpPr>
          <p:cNvPr id="270" name="Google Shape;270;p11"/>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271" name="Google Shape;271;p11"/>
          <p:cNvCxnSpPr>
            <a:endCxn id="270"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272" name="Google Shape;272;p11"/>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2040"/>
        </a:solidFill>
      </p:bgPr>
    </p:bg>
    <p:spTree>
      <p:nvGrpSpPr>
        <p:cNvPr id="277" name="Shape 277"/>
        <p:cNvGrpSpPr/>
        <p:nvPr/>
      </p:nvGrpSpPr>
      <p:grpSpPr>
        <a:xfrm>
          <a:off x="0" y="0"/>
          <a:ext cx="0" cy="0"/>
          <a:chOff x="0" y="0"/>
          <a:chExt cx="0" cy="0"/>
        </a:xfrm>
      </p:grpSpPr>
      <p:sp>
        <p:nvSpPr>
          <p:cNvPr id="278" name="Google Shape;278;p12"/>
          <p:cNvSpPr/>
          <p:nvPr/>
        </p:nvSpPr>
        <p:spPr>
          <a:xfrm>
            <a:off x="457200" y="256032"/>
            <a:ext cx="82296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chemeClr val="lt1"/>
                </a:solidFill>
                <a:latin typeface="Lato"/>
                <a:ea typeface="Lato"/>
                <a:cs typeface="Lato"/>
                <a:sym typeface="Lato"/>
              </a:rPr>
              <a:t>How We Work Together</a:t>
            </a:r>
            <a:endParaRPr i="0" sz="2600" u="none" cap="none" strike="noStrike">
              <a:solidFill>
                <a:schemeClr val="lt1"/>
              </a:solidFill>
              <a:latin typeface="Lato"/>
              <a:ea typeface="Lato"/>
              <a:cs typeface="Lato"/>
              <a:sym typeface="Lato"/>
            </a:endParaRPr>
          </a:p>
        </p:txBody>
      </p:sp>
      <p:sp>
        <p:nvSpPr>
          <p:cNvPr id="279" name="Google Shape;279;p12"/>
          <p:cNvSpPr/>
          <p:nvPr/>
        </p:nvSpPr>
        <p:spPr>
          <a:xfrm>
            <a:off x="457200" y="987552"/>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chemeClr val="lt1"/>
                </a:solidFill>
                <a:latin typeface="Lato"/>
                <a:ea typeface="Lato"/>
                <a:cs typeface="Lato"/>
                <a:sym typeface="Lato"/>
              </a:rPr>
              <a:t>Sprint Rhythm</a:t>
            </a:r>
            <a:endParaRPr i="0" sz="1300" u="none" cap="none" strike="noStrike">
              <a:solidFill>
                <a:schemeClr val="lt1"/>
              </a:solidFill>
              <a:latin typeface="Lato"/>
              <a:ea typeface="Lato"/>
              <a:cs typeface="Lato"/>
              <a:sym typeface="Lato"/>
            </a:endParaRPr>
          </a:p>
        </p:txBody>
      </p:sp>
      <p:sp>
        <p:nvSpPr>
          <p:cNvPr id="280" name="Google Shape;280;p12"/>
          <p:cNvSpPr/>
          <p:nvPr/>
        </p:nvSpPr>
        <p:spPr>
          <a:xfrm>
            <a:off x="457200" y="1417320"/>
            <a:ext cx="201168" cy="201168"/>
          </a:xfrm>
          <a:prstGeom prst="ellipse">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1" name="Google Shape;281;p12"/>
          <p:cNvCxnSpPr/>
          <p:nvPr/>
        </p:nvCxnSpPr>
        <p:spPr>
          <a:xfrm>
            <a:off x="553212" y="1618488"/>
            <a:ext cx="0" cy="457200"/>
          </a:xfrm>
          <a:prstGeom prst="straightConnector1">
            <a:avLst/>
          </a:prstGeom>
          <a:noFill/>
          <a:ln cap="flat" cmpd="sng" w="9525">
            <a:solidFill>
              <a:srgbClr val="8A96B0"/>
            </a:solidFill>
            <a:prstDash val="solid"/>
            <a:round/>
            <a:headEnd len="sm" w="sm" type="none"/>
            <a:tailEnd len="sm" w="sm" type="none"/>
          </a:ln>
        </p:spPr>
      </p:cxnSp>
      <p:sp>
        <p:nvSpPr>
          <p:cNvPr id="282" name="Google Shape;282;p12"/>
          <p:cNvSpPr/>
          <p:nvPr/>
        </p:nvSpPr>
        <p:spPr>
          <a:xfrm>
            <a:off x="777240" y="1371600"/>
            <a:ext cx="10972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Lato"/>
                <a:ea typeface="Lato"/>
                <a:cs typeface="Lato"/>
                <a:sym typeface="Lato"/>
              </a:rPr>
              <a:t>Friday</a:t>
            </a:r>
            <a:endParaRPr i="0" sz="1100" u="none" cap="none" strike="noStrike">
              <a:solidFill>
                <a:schemeClr val="dk1"/>
              </a:solidFill>
              <a:latin typeface="Lato"/>
              <a:ea typeface="Lato"/>
              <a:cs typeface="Lato"/>
              <a:sym typeface="Lato"/>
            </a:endParaRPr>
          </a:p>
        </p:txBody>
      </p:sp>
      <p:sp>
        <p:nvSpPr>
          <p:cNvPr id="283" name="Google Shape;283;p12"/>
          <p:cNvSpPr/>
          <p:nvPr/>
        </p:nvSpPr>
        <p:spPr>
          <a:xfrm>
            <a:off x="777240" y="1627632"/>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chemeClr val="lt1"/>
                </a:solidFill>
                <a:latin typeface="Lato"/>
                <a:ea typeface="Lato"/>
                <a:cs typeface="Lato"/>
                <a:sym typeface="Lato"/>
              </a:rPr>
              <a:t>Planning and prioritisation of next sprint tasks</a:t>
            </a:r>
            <a:endParaRPr i="0" sz="1000" u="none" cap="none" strike="noStrike">
              <a:solidFill>
                <a:schemeClr val="lt1"/>
              </a:solidFill>
              <a:latin typeface="Lato"/>
              <a:ea typeface="Lato"/>
              <a:cs typeface="Lato"/>
              <a:sym typeface="Lato"/>
            </a:endParaRPr>
          </a:p>
        </p:txBody>
      </p:sp>
      <p:sp>
        <p:nvSpPr>
          <p:cNvPr id="284" name="Google Shape;284;p12"/>
          <p:cNvSpPr/>
          <p:nvPr/>
        </p:nvSpPr>
        <p:spPr>
          <a:xfrm>
            <a:off x="457200" y="2075688"/>
            <a:ext cx="201168" cy="201168"/>
          </a:xfrm>
          <a:prstGeom prst="ellipse">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5" name="Google Shape;285;p12"/>
          <p:cNvCxnSpPr/>
          <p:nvPr/>
        </p:nvCxnSpPr>
        <p:spPr>
          <a:xfrm>
            <a:off x="553212" y="2276856"/>
            <a:ext cx="0" cy="457200"/>
          </a:xfrm>
          <a:prstGeom prst="straightConnector1">
            <a:avLst/>
          </a:prstGeom>
          <a:noFill/>
          <a:ln cap="flat" cmpd="sng" w="9525">
            <a:solidFill>
              <a:srgbClr val="8A96B0"/>
            </a:solidFill>
            <a:prstDash val="solid"/>
            <a:round/>
            <a:headEnd len="sm" w="sm" type="none"/>
            <a:tailEnd len="sm" w="sm" type="none"/>
          </a:ln>
        </p:spPr>
      </p:cxnSp>
      <p:sp>
        <p:nvSpPr>
          <p:cNvPr id="286" name="Google Shape;286;p12"/>
          <p:cNvSpPr/>
          <p:nvPr/>
        </p:nvSpPr>
        <p:spPr>
          <a:xfrm>
            <a:off x="777240" y="2029968"/>
            <a:ext cx="10972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Lato"/>
                <a:ea typeface="Lato"/>
                <a:cs typeface="Lato"/>
                <a:sym typeface="Lato"/>
              </a:rPr>
              <a:t>Monday</a:t>
            </a:r>
            <a:endParaRPr i="0" sz="1100" u="none" cap="none" strike="noStrike">
              <a:solidFill>
                <a:schemeClr val="dk1"/>
              </a:solidFill>
              <a:latin typeface="Lato"/>
              <a:ea typeface="Lato"/>
              <a:cs typeface="Lato"/>
              <a:sym typeface="Lato"/>
            </a:endParaRPr>
          </a:p>
        </p:txBody>
      </p:sp>
      <p:sp>
        <p:nvSpPr>
          <p:cNvPr id="287" name="Google Shape;287;p12"/>
          <p:cNvSpPr/>
          <p:nvPr/>
        </p:nvSpPr>
        <p:spPr>
          <a:xfrm>
            <a:off x="777240" y="2286000"/>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chemeClr val="lt1"/>
                </a:solidFill>
                <a:latin typeface="Lato"/>
                <a:ea typeface="Lato"/>
                <a:cs typeface="Lato"/>
                <a:sym typeface="Lato"/>
              </a:rPr>
              <a:t>Sprint kicks off </a:t>
            </a:r>
            <a:r>
              <a:rPr lang="en-US" sz="1000">
                <a:solidFill>
                  <a:schemeClr val="lt1"/>
                </a:solidFill>
                <a:latin typeface="Lato"/>
                <a:ea typeface="Lato"/>
                <a:cs typeface="Lato"/>
                <a:sym typeface="Lato"/>
              </a:rPr>
              <a:t>-</a:t>
            </a:r>
            <a:r>
              <a:rPr i="0" lang="en-US" sz="1000" u="none" cap="none" strike="noStrike">
                <a:solidFill>
                  <a:schemeClr val="lt1"/>
                </a:solidFill>
                <a:latin typeface="Lato"/>
                <a:ea typeface="Lato"/>
                <a:cs typeface="Lato"/>
                <a:sym typeface="Lato"/>
              </a:rPr>
              <a:t> tasks actioned</a:t>
            </a:r>
            <a:endParaRPr i="0" sz="1000" u="none" cap="none" strike="noStrike">
              <a:solidFill>
                <a:schemeClr val="lt1"/>
              </a:solidFill>
              <a:latin typeface="Lato"/>
              <a:ea typeface="Lato"/>
              <a:cs typeface="Lato"/>
              <a:sym typeface="Lato"/>
            </a:endParaRPr>
          </a:p>
        </p:txBody>
      </p:sp>
      <p:sp>
        <p:nvSpPr>
          <p:cNvPr id="288" name="Google Shape;288;p12"/>
          <p:cNvSpPr/>
          <p:nvPr/>
        </p:nvSpPr>
        <p:spPr>
          <a:xfrm>
            <a:off x="457200" y="2734056"/>
            <a:ext cx="201168" cy="201168"/>
          </a:xfrm>
          <a:prstGeom prst="ellipse">
            <a:avLst/>
          </a:prstGeom>
          <a:solidFill>
            <a:srgbClr val="7B5EA7"/>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777240" y="2688336"/>
            <a:ext cx="10972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100"/>
              <a:buFont typeface="Calibri"/>
              <a:buNone/>
            </a:pPr>
            <a:r>
              <a:rPr b="1" i="0" lang="en-US" sz="1100" u="none" cap="none" strike="noStrike">
                <a:solidFill>
                  <a:srgbClr val="7B5EA7"/>
                </a:solidFill>
                <a:latin typeface="Lato"/>
                <a:ea typeface="Lato"/>
                <a:cs typeface="Lato"/>
                <a:sym typeface="Lato"/>
              </a:rPr>
              <a:t>Friday</a:t>
            </a:r>
            <a:endParaRPr i="0" sz="1100" u="none" cap="none" strike="noStrike">
              <a:solidFill>
                <a:schemeClr val="dk1"/>
              </a:solidFill>
              <a:latin typeface="Lato"/>
              <a:ea typeface="Lato"/>
              <a:cs typeface="Lato"/>
              <a:sym typeface="Lato"/>
            </a:endParaRPr>
          </a:p>
        </p:txBody>
      </p:sp>
      <p:sp>
        <p:nvSpPr>
          <p:cNvPr id="290" name="Google Shape;290;p12"/>
          <p:cNvSpPr/>
          <p:nvPr/>
        </p:nvSpPr>
        <p:spPr>
          <a:xfrm>
            <a:off x="777240" y="2944368"/>
            <a:ext cx="3200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chemeClr val="lt1"/>
                </a:solidFill>
                <a:latin typeface="Lato"/>
                <a:ea typeface="Lato"/>
                <a:cs typeface="Lato"/>
                <a:sym typeface="Lato"/>
              </a:rPr>
              <a:t>Weekly rundown email and demo sent</a:t>
            </a:r>
            <a:endParaRPr i="0" sz="1000" u="none" cap="none" strike="noStrike">
              <a:solidFill>
                <a:schemeClr val="lt1"/>
              </a:solidFill>
              <a:latin typeface="Lato"/>
              <a:ea typeface="Lato"/>
              <a:cs typeface="Lato"/>
              <a:sym typeface="Lato"/>
            </a:endParaRPr>
          </a:p>
        </p:txBody>
      </p:sp>
      <p:cxnSp>
        <p:nvCxnSpPr>
          <p:cNvPr id="291" name="Google Shape;291;p12"/>
          <p:cNvCxnSpPr/>
          <p:nvPr/>
        </p:nvCxnSpPr>
        <p:spPr>
          <a:xfrm>
            <a:off x="4572000" y="987552"/>
            <a:ext cx="0" cy="3566160"/>
          </a:xfrm>
          <a:prstGeom prst="straightConnector1">
            <a:avLst/>
          </a:prstGeom>
          <a:noFill/>
          <a:ln cap="flat" cmpd="sng" w="12700">
            <a:solidFill>
              <a:srgbClr val="1E2A4A"/>
            </a:solidFill>
            <a:prstDash val="solid"/>
            <a:round/>
            <a:headEnd len="sm" w="sm" type="none"/>
            <a:tailEnd len="sm" w="sm" type="none"/>
          </a:ln>
        </p:spPr>
      </p:cxnSp>
      <p:sp>
        <p:nvSpPr>
          <p:cNvPr id="292" name="Google Shape;292;p12"/>
          <p:cNvSpPr/>
          <p:nvPr/>
        </p:nvSpPr>
        <p:spPr>
          <a:xfrm>
            <a:off x="4754880" y="987552"/>
            <a:ext cx="4023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chemeClr val="lt1"/>
                </a:solidFill>
                <a:latin typeface="Lato"/>
                <a:ea typeface="Lato"/>
                <a:cs typeface="Lato"/>
                <a:sym typeface="Lato"/>
              </a:rPr>
              <a:t>Communication &amp; Check-ins</a:t>
            </a:r>
            <a:endParaRPr i="0" sz="1300" u="none" cap="none" strike="noStrike">
              <a:solidFill>
                <a:schemeClr val="lt1"/>
              </a:solidFill>
              <a:latin typeface="Lato"/>
              <a:ea typeface="Lato"/>
              <a:cs typeface="Lato"/>
              <a:sym typeface="Lato"/>
            </a:endParaRPr>
          </a:p>
        </p:txBody>
      </p:sp>
      <p:cxnSp>
        <p:nvCxnSpPr>
          <p:cNvPr id="293" name="Google Shape;293;p12"/>
          <p:cNvCxnSpPr/>
          <p:nvPr/>
        </p:nvCxnSpPr>
        <p:spPr>
          <a:xfrm>
            <a:off x="4754880" y="1371600"/>
            <a:ext cx="4023360" cy="0"/>
          </a:xfrm>
          <a:prstGeom prst="straightConnector1">
            <a:avLst/>
          </a:prstGeom>
          <a:noFill/>
          <a:ln cap="flat" cmpd="sng" w="9525">
            <a:solidFill>
              <a:srgbClr val="1E2A4A"/>
            </a:solidFill>
            <a:prstDash val="solid"/>
            <a:round/>
            <a:headEnd len="sm" w="sm" type="none"/>
            <a:tailEnd len="sm" w="sm" type="none"/>
          </a:ln>
        </p:spPr>
      </p:cxnSp>
      <p:sp>
        <p:nvSpPr>
          <p:cNvPr id="294" name="Google Shape;294;p12"/>
          <p:cNvSpPr/>
          <p:nvPr/>
        </p:nvSpPr>
        <p:spPr>
          <a:xfrm>
            <a:off x="4892040" y="1426464"/>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chemeClr val="lt1"/>
                </a:solidFill>
                <a:latin typeface="Lato"/>
                <a:ea typeface="Lato"/>
                <a:cs typeface="Lato"/>
                <a:sym typeface="Lato"/>
              </a:rPr>
              <a:t>Shared Channel</a:t>
            </a:r>
            <a:endParaRPr i="0" sz="1100" u="none" cap="none" strike="noStrike">
              <a:solidFill>
                <a:schemeClr val="lt1"/>
              </a:solidFill>
              <a:latin typeface="Lato"/>
              <a:ea typeface="Lato"/>
              <a:cs typeface="Lato"/>
              <a:sym typeface="Lato"/>
            </a:endParaRPr>
          </a:p>
        </p:txBody>
      </p:sp>
      <p:sp>
        <p:nvSpPr>
          <p:cNvPr id="295" name="Google Shape;295;p12"/>
          <p:cNvSpPr/>
          <p:nvPr/>
        </p:nvSpPr>
        <p:spPr>
          <a:xfrm>
            <a:off x="4892040" y="1673352"/>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chemeClr val="lt1"/>
                </a:solidFill>
                <a:latin typeface="Lato"/>
                <a:ea typeface="Lato"/>
                <a:cs typeface="Lato"/>
                <a:sym typeface="Lato"/>
              </a:rPr>
              <a:t>Real-time comms throughout the project (Teams or Slack — confirming today)</a:t>
            </a:r>
            <a:endParaRPr i="0" sz="1000" u="none" cap="none" strike="noStrike">
              <a:solidFill>
                <a:schemeClr val="lt1"/>
              </a:solidFill>
              <a:latin typeface="Lato"/>
              <a:ea typeface="Lato"/>
              <a:cs typeface="Lato"/>
              <a:sym typeface="Lato"/>
            </a:endParaRPr>
          </a:p>
        </p:txBody>
      </p:sp>
      <p:cxnSp>
        <p:nvCxnSpPr>
          <p:cNvPr id="296" name="Google Shape;296;p12"/>
          <p:cNvCxnSpPr/>
          <p:nvPr/>
        </p:nvCxnSpPr>
        <p:spPr>
          <a:xfrm>
            <a:off x="4754880" y="2084832"/>
            <a:ext cx="4023360" cy="0"/>
          </a:xfrm>
          <a:prstGeom prst="straightConnector1">
            <a:avLst/>
          </a:prstGeom>
          <a:noFill/>
          <a:ln cap="flat" cmpd="sng" w="9525">
            <a:solidFill>
              <a:srgbClr val="1E2A4A"/>
            </a:solidFill>
            <a:prstDash val="solid"/>
            <a:round/>
            <a:headEnd len="sm" w="sm" type="none"/>
            <a:tailEnd len="sm" w="sm" type="none"/>
          </a:ln>
        </p:spPr>
      </p:cxnSp>
      <p:sp>
        <p:nvSpPr>
          <p:cNvPr id="297" name="Google Shape;297;p12"/>
          <p:cNvSpPr/>
          <p:nvPr/>
        </p:nvSpPr>
        <p:spPr>
          <a:xfrm>
            <a:off x="4892040" y="2139696"/>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chemeClr val="lt1"/>
                </a:solidFill>
                <a:latin typeface="Lato"/>
                <a:ea typeface="Lato"/>
                <a:cs typeface="Lato"/>
                <a:sym typeface="Lato"/>
              </a:rPr>
              <a:t>Weekly Rundown Emails</a:t>
            </a:r>
            <a:endParaRPr i="0" sz="1100" u="none" cap="none" strike="noStrike">
              <a:solidFill>
                <a:schemeClr val="lt1"/>
              </a:solidFill>
              <a:latin typeface="Lato"/>
              <a:ea typeface="Lato"/>
              <a:cs typeface="Lato"/>
              <a:sym typeface="Lato"/>
            </a:endParaRPr>
          </a:p>
        </p:txBody>
      </p:sp>
      <p:sp>
        <p:nvSpPr>
          <p:cNvPr id="298" name="Google Shape;298;p12"/>
          <p:cNvSpPr/>
          <p:nvPr/>
        </p:nvSpPr>
        <p:spPr>
          <a:xfrm>
            <a:off x="4892040" y="2386584"/>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chemeClr val="lt1"/>
                </a:solidFill>
                <a:latin typeface="Lato"/>
                <a:ea typeface="Lato"/>
                <a:cs typeface="Lato"/>
                <a:sym typeface="Lato"/>
              </a:rPr>
              <a:t>Summary of progress and next steps every Friday</a:t>
            </a:r>
            <a:endParaRPr i="0" sz="1000" u="none" cap="none" strike="noStrike">
              <a:solidFill>
                <a:schemeClr val="lt1"/>
              </a:solidFill>
              <a:latin typeface="Lato"/>
              <a:ea typeface="Lato"/>
              <a:cs typeface="Lato"/>
              <a:sym typeface="Lato"/>
            </a:endParaRPr>
          </a:p>
        </p:txBody>
      </p:sp>
      <p:cxnSp>
        <p:nvCxnSpPr>
          <p:cNvPr id="299" name="Google Shape;299;p12"/>
          <p:cNvCxnSpPr/>
          <p:nvPr/>
        </p:nvCxnSpPr>
        <p:spPr>
          <a:xfrm>
            <a:off x="4754880" y="2798064"/>
            <a:ext cx="4023360" cy="0"/>
          </a:xfrm>
          <a:prstGeom prst="straightConnector1">
            <a:avLst/>
          </a:prstGeom>
          <a:noFill/>
          <a:ln cap="flat" cmpd="sng" w="9525">
            <a:solidFill>
              <a:srgbClr val="1E2A4A"/>
            </a:solidFill>
            <a:prstDash val="solid"/>
            <a:round/>
            <a:headEnd len="sm" w="sm" type="none"/>
            <a:tailEnd len="sm" w="sm" type="none"/>
          </a:ln>
        </p:spPr>
      </p:cxnSp>
      <p:sp>
        <p:nvSpPr>
          <p:cNvPr id="300" name="Google Shape;300;p12"/>
          <p:cNvSpPr/>
          <p:nvPr/>
        </p:nvSpPr>
        <p:spPr>
          <a:xfrm>
            <a:off x="4892040" y="2852928"/>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lang="en-US" sz="1100">
                <a:solidFill>
                  <a:schemeClr val="lt1"/>
                </a:solidFill>
                <a:latin typeface="Lato"/>
                <a:ea typeface="Lato"/>
                <a:cs typeface="Lato"/>
                <a:sym typeface="Lato"/>
              </a:rPr>
              <a:t>Bi-</a:t>
            </a:r>
            <a:r>
              <a:rPr b="1" i="0" lang="en-US" sz="1100" u="none" cap="none" strike="noStrike">
                <a:solidFill>
                  <a:schemeClr val="lt1"/>
                </a:solidFill>
                <a:latin typeface="Lato"/>
                <a:ea typeface="Lato"/>
                <a:cs typeface="Lato"/>
                <a:sym typeface="Lato"/>
              </a:rPr>
              <a:t>Weekly Standup Calls</a:t>
            </a:r>
            <a:endParaRPr i="0" sz="1100" u="none" cap="none" strike="noStrike">
              <a:solidFill>
                <a:schemeClr val="lt1"/>
              </a:solidFill>
              <a:latin typeface="Lato"/>
              <a:ea typeface="Lato"/>
              <a:cs typeface="Lato"/>
              <a:sym typeface="Lato"/>
            </a:endParaRPr>
          </a:p>
        </p:txBody>
      </p:sp>
      <p:sp>
        <p:nvSpPr>
          <p:cNvPr id="301" name="Google Shape;301;p12"/>
          <p:cNvSpPr/>
          <p:nvPr/>
        </p:nvSpPr>
        <p:spPr>
          <a:xfrm>
            <a:off x="4892040" y="3099816"/>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chemeClr val="lt1"/>
                </a:solidFill>
                <a:latin typeface="Lato"/>
                <a:ea typeface="Lato"/>
                <a:cs typeface="Lato"/>
                <a:sym typeface="Lato"/>
              </a:rPr>
              <a:t>To be confirmed at kickoff</a:t>
            </a:r>
            <a:endParaRPr i="0" sz="1000" u="none" cap="none" strike="noStrike">
              <a:solidFill>
                <a:schemeClr val="lt1"/>
              </a:solidFill>
              <a:latin typeface="Lato"/>
              <a:ea typeface="Lato"/>
              <a:cs typeface="Lato"/>
              <a:sym typeface="Lato"/>
            </a:endParaRPr>
          </a:p>
        </p:txBody>
      </p:sp>
      <p:cxnSp>
        <p:nvCxnSpPr>
          <p:cNvPr id="302" name="Google Shape;302;p12"/>
          <p:cNvCxnSpPr/>
          <p:nvPr/>
        </p:nvCxnSpPr>
        <p:spPr>
          <a:xfrm>
            <a:off x="4754880" y="3511296"/>
            <a:ext cx="4023360" cy="0"/>
          </a:xfrm>
          <a:prstGeom prst="straightConnector1">
            <a:avLst/>
          </a:prstGeom>
          <a:noFill/>
          <a:ln cap="flat" cmpd="sng" w="9525">
            <a:solidFill>
              <a:srgbClr val="1E2A4A"/>
            </a:solidFill>
            <a:prstDash val="solid"/>
            <a:round/>
            <a:headEnd len="sm" w="sm" type="none"/>
            <a:tailEnd len="sm" w="sm" type="none"/>
          </a:ln>
        </p:spPr>
      </p:cxnSp>
      <p:sp>
        <p:nvSpPr>
          <p:cNvPr id="303" name="Google Shape;303;p12"/>
          <p:cNvSpPr/>
          <p:nvPr/>
        </p:nvSpPr>
        <p:spPr>
          <a:xfrm>
            <a:off x="4892040" y="3566160"/>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chemeClr val="lt1"/>
                </a:solidFill>
                <a:latin typeface="Lato"/>
                <a:ea typeface="Lato"/>
                <a:cs typeface="Lato"/>
                <a:sym typeface="Lato"/>
              </a:rPr>
              <a:t>Live Dashboard</a:t>
            </a:r>
            <a:endParaRPr i="0" sz="1100" u="none" cap="none" strike="noStrike">
              <a:solidFill>
                <a:schemeClr val="lt1"/>
              </a:solidFill>
              <a:latin typeface="Lato"/>
              <a:ea typeface="Lato"/>
              <a:cs typeface="Lato"/>
              <a:sym typeface="Lato"/>
            </a:endParaRPr>
          </a:p>
        </p:txBody>
      </p:sp>
      <p:sp>
        <p:nvSpPr>
          <p:cNvPr id="304" name="Google Shape;304;p12"/>
          <p:cNvSpPr/>
          <p:nvPr/>
        </p:nvSpPr>
        <p:spPr>
          <a:xfrm>
            <a:off x="4892040" y="3813048"/>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00"/>
              <a:buFont typeface="Calibri"/>
              <a:buNone/>
            </a:pPr>
            <a:r>
              <a:rPr i="0" lang="en-US" sz="1000" u="none" cap="none" strike="noStrike">
                <a:solidFill>
                  <a:schemeClr val="lt1"/>
                </a:solidFill>
                <a:latin typeface="Lato"/>
                <a:ea typeface="Lato"/>
                <a:cs typeface="Lato"/>
                <a:sym typeface="Lato"/>
              </a:rPr>
              <a:t>Task tracking visible throughout the engagement</a:t>
            </a:r>
            <a:endParaRPr i="0" sz="1000" u="none" cap="none" strike="noStrike">
              <a:solidFill>
                <a:schemeClr val="lt1"/>
              </a:solidFill>
              <a:latin typeface="Lato"/>
              <a:ea typeface="Lato"/>
              <a:cs typeface="Lato"/>
              <a:sym typeface="Lato"/>
            </a:endParaRPr>
          </a:p>
        </p:txBody>
      </p:sp>
      <p:sp>
        <p:nvSpPr>
          <p:cNvPr id="305" name="Google Shape;305;p12"/>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306" name="Google Shape;306;p12"/>
          <p:cNvCxnSpPr>
            <a:endCxn id="305"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307" name="Google Shape;307;p12"/>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2040"/>
        </a:solidFill>
      </p:bgPr>
    </p:bg>
    <p:spTree>
      <p:nvGrpSpPr>
        <p:cNvPr id="312" name="Shape 312"/>
        <p:cNvGrpSpPr/>
        <p:nvPr/>
      </p:nvGrpSpPr>
      <p:grpSpPr>
        <a:xfrm>
          <a:off x="0" y="0"/>
          <a:ext cx="0" cy="0"/>
          <a:chOff x="0" y="0"/>
          <a:chExt cx="0" cy="0"/>
        </a:xfrm>
      </p:grpSpPr>
      <p:sp>
        <p:nvSpPr>
          <p:cNvPr id="313" name="Google Shape;313;p13"/>
          <p:cNvSpPr/>
          <p:nvPr/>
        </p:nvSpPr>
        <p:spPr>
          <a:xfrm>
            <a:off x="457200" y="256032"/>
            <a:ext cx="82296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Lato"/>
                <a:ea typeface="Lato"/>
                <a:cs typeface="Lato"/>
                <a:sym typeface="Lato"/>
              </a:rPr>
              <a:t>Next Steps</a:t>
            </a:r>
            <a:endParaRPr i="0" sz="2800" u="none" cap="none" strike="noStrike">
              <a:solidFill>
                <a:srgbClr val="FFFFFF"/>
              </a:solidFill>
              <a:latin typeface="Lato"/>
              <a:ea typeface="Lato"/>
              <a:cs typeface="Lato"/>
              <a:sym typeface="Lato"/>
            </a:endParaRPr>
          </a:p>
        </p:txBody>
      </p:sp>
      <p:sp>
        <p:nvSpPr>
          <p:cNvPr id="314" name="Google Shape;314;p13"/>
          <p:cNvSpPr/>
          <p:nvPr/>
        </p:nvSpPr>
        <p:spPr>
          <a:xfrm>
            <a:off x="45720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B0"/>
              </a:buClr>
              <a:buSzPts val="1100"/>
              <a:buFont typeface="Calibri"/>
              <a:buNone/>
            </a:pPr>
            <a:r>
              <a:rPr i="0" lang="en-US" sz="1100" u="none" cap="none" strike="noStrike">
                <a:solidFill>
                  <a:srgbClr val="FFFFFF"/>
                </a:solidFill>
                <a:latin typeface="Lato"/>
                <a:ea typeface="Lato"/>
                <a:cs typeface="Lato"/>
                <a:sym typeface="Lato"/>
              </a:rPr>
              <a:t>What we need to get started </a:t>
            </a:r>
            <a:r>
              <a:rPr lang="en-US" sz="1100">
                <a:solidFill>
                  <a:srgbClr val="FFFFFF"/>
                </a:solidFill>
                <a:latin typeface="Lato"/>
                <a:ea typeface="Lato"/>
                <a:cs typeface="Lato"/>
                <a:sym typeface="Lato"/>
              </a:rPr>
              <a:t>-</a:t>
            </a:r>
            <a:r>
              <a:rPr i="0" lang="en-US" sz="1100" u="none" cap="none" strike="noStrike">
                <a:solidFill>
                  <a:srgbClr val="FFFFFF"/>
                </a:solidFill>
                <a:latin typeface="Lato"/>
                <a:ea typeface="Lato"/>
                <a:cs typeface="Lato"/>
                <a:sym typeface="Lato"/>
              </a:rPr>
              <a:t> and what you can expect from us.</a:t>
            </a:r>
            <a:endParaRPr i="0" sz="1100" u="none" cap="none" strike="noStrike">
              <a:solidFill>
                <a:srgbClr val="FFFFFF"/>
              </a:solidFill>
              <a:latin typeface="Lato"/>
              <a:ea typeface="Lato"/>
              <a:cs typeface="Lato"/>
              <a:sym typeface="Lato"/>
            </a:endParaRPr>
          </a:p>
        </p:txBody>
      </p:sp>
      <p:sp>
        <p:nvSpPr>
          <p:cNvPr id="315" name="Google Shape;315;p13"/>
          <p:cNvSpPr/>
          <p:nvPr/>
        </p:nvSpPr>
        <p:spPr>
          <a:xfrm>
            <a:off x="365760" y="1005840"/>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5EA7"/>
              </a:buClr>
              <a:buSzPts val="1300"/>
              <a:buFont typeface="Calibri"/>
              <a:buNone/>
            </a:pPr>
            <a:r>
              <a:rPr b="1" i="0" lang="en-US" sz="1300" u="none" cap="none" strike="noStrike">
                <a:solidFill>
                  <a:srgbClr val="7B5EA7"/>
                </a:solidFill>
                <a:latin typeface="Lato"/>
                <a:ea typeface="Lato"/>
                <a:cs typeface="Lato"/>
                <a:sym typeface="Lato"/>
              </a:rPr>
              <a:t>From TBA Firefly</a:t>
            </a:r>
            <a:endParaRPr i="0" sz="1300" u="none" cap="none" strike="noStrike">
              <a:solidFill>
                <a:schemeClr val="dk1"/>
              </a:solidFill>
              <a:latin typeface="Lato"/>
              <a:ea typeface="Lato"/>
              <a:cs typeface="Lato"/>
              <a:sym typeface="Lato"/>
            </a:endParaRPr>
          </a:p>
        </p:txBody>
      </p:sp>
      <p:cxnSp>
        <p:nvCxnSpPr>
          <p:cNvPr id="316" name="Google Shape;316;p13"/>
          <p:cNvCxnSpPr/>
          <p:nvPr/>
        </p:nvCxnSpPr>
        <p:spPr>
          <a:xfrm>
            <a:off x="365760" y="1901952"/>
            <a:ext cx="3931920" cy="0"/>
          </a:xfrm>
          <a:prstGeom prst="straightConnector1">
            <a:avLst/>
          </a:prstGeom>
          <a:noFill/>
          <a:ln cap="flat" cmpd="sng" w="9525">
            <a:solidFill>
              <a:srgbClr val="1E2A4A"/>
            </a:solidFill>
            <a:prstDash val="solid"/>
            <a:round/>
            <a:headEnd len="sm" w="sm" type="none"/>
            <a:tailEnd len="sm" w="sm" type="none"/>
          </a:ln>
        </p:spPr>
      </p:cxnSp>
      <p:sp>
        <p:nvSpPr>
          <p:cNvPr id="317" name="Google Shape;317;p13"/>
          <p:cNvSpPr/>
          <p:nvPr/>
        </p:nvSpPr>
        <p:spPr>
          <a:xfrm>
            <a:off x="365760" y="1426464"/>
            <a:ext cx="201168" cy="201168"/>
          </a:xfrm>
          <a:prstGeom prst="rect">
            <a:avLst/>
          </a:prstGeom>
          <a:noFill/>
          <a:ln cap="flat" cmpd="sng" w="1015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3"/>
          <p:cNvSpPr/>
          <p:nvPr/>
        </p:nvSpPr>
        <p:spPr>
          <a:xfrm>
            <a:off x="641368" y="1335039"/>
            <a:ext cx="361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Grant HubSpot Partner Admin access to Bound </a:t>
            </a:r>
            <a:r>
              <a:rPr lang="en-US" sz="1050">
                <a:solidFill>
                  <a:srgbClr val="FFFFFF"/>
                </a:solidFill>
                <a:latin typeface="Lato"/>
                <a:ea typeface="Lato"/>
                <a:cs typeface="Lato"/>
                <a:sym typeface="Lato"/>
              </a:rPr>
              <a:t>-</a:t>
            </a:r>
            <a:r>
              <a:rPr i="0" lang="en-US" sz="1050" u="none" cap="none" strike="noStrike">
                <a:solidFill>
                  <a:srgbClr val="FFFFFF"/>
                </a:solidFill>
                <a:latin typeface="Lato"/>
                <a:ea typeface="Lato"/>
                <a:cs typeface="Lato"/>
                <a:sym typeface="Lato"/>
              </a:rPr>
              <a:t> Day 1</a:t>
            </a:r>
            <a:endParaRPr i="0" sz="1050" u="none" cap="none" strike="noStrike">
              <a:solidFill>
                <a:srgbClr val="FFFFFF"/>
              </a:solidFill>
              <a:latin typeface="Lato"/>
              <a:ea typeface="Lato"/>
              <a:cs typeface="Lato"/>
              <a:sym typeface="Lato"/>
            </a:endParaRPr>
          </a:p>
        </p:txBody>
      </p:sp>
      <p:cxnSp>
        <p:nvCxnSpPr>
          <p:cNvPr id="319" name="Google Shape;319;p13"/>
          <p:cNvCxnSpPr/>
          <p:nvPr/>
        </p:nvCxnSpPr>
        <p:spPr>
          <a:xfrm>
            <a:off x="365760" y="2450592"/>
            <a:ext cx="3931920" cy="0"/>
          </a:xfrm>
          <a:prstGeom prst="straightConnector1">
            <a:avLst/>
          </a:prstGeom>
          <a:noFill/>
          <a:ln cap="flat" cmpd="sng" w="9525">
            <a:solidFill>
              <a:srgbClr val="1E2A4A"/>
            </a:solidFill>
            <a:prstDash val="solid"/>
            <a:round/>
            <a:headEnd len="sm" w="sm" type="none"/>
            <a:tailEnd len="sm" w="sm" type="none"/>
          </a:ln>
        </p:spPr>
      </p:cxnSp>
      <p:sp>
        <p:nvSpPr>
          <p:cNvPr id="320" name="Google Shape;320;p13"/>
          <p:cNvSpPr/>
          <p:nvPr/>
        </p:nvSpPr>
        <p:spPr>
          <a:xfrm>
            <a:off x="365760" y="1975104"/>
            <a:ext cx="201168" cy="201168"/>
          </a:xfrm>
          <a:prstGeom prst="rect">
            <a:avLst/>
          </a:prstGeom>
          <a:noFill/>
          <a:ln cap="flat" cmpd="sng" w="1015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p:nvPr/>
        </p:nvSpPr>
        <p:spPr>
          <a:xfrm>
            <a:off x="641368" y="1883679"/>
            <a:ext cx="361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lang="en-US" sz="1050">
                <a:solidFill>
                  <a:srgbClr val="FFFFFF"/>
                </a:solidFill>
                <a:latin typeface="Lato"/>
                <a:ea typeface="Lato"/>
                <a:cs typeface="Lato"/>
                <a:sym typeface="Lato"/>
              </a:rPr>
              <a:t>Allow Bound</a:t>
            </a:r>
            <a:r>
              <a:rPr i="0" lang="en-US" sz="1050" u="none" cap="none" strike="noStrike">
                <a:solidFill>
                  <a:srgbClr val="FFFFFF"/>
                </a:solidFill>
                <a:latin typeface="Lato"/>
                <a:ea typeface="Lato"/>
                <a:cs typeface="Lato"/>
                <a:sym typeface="Lato"/>
              </a:rPr>
              <a:t> a HubSpot Private App token </a:t>
            </a:r>
            <a:r>
              <a:rPr lang="en-US" sz="1050">
                <a:solidFill>
                  <a:srgbClr val="FFFFFF"/>
                </a:solidFill>
                <a:latin typeface="Lato"/>
                <a:ea typeface="Lato"/>
                <a:cs typeface="Lato"/>
                <a:sym typeface="Lato"/>
              </a:rPr>
              <a:t>-</a:t>
            </a:r>
            <a:r>
              <a:rPr i="0" lang="en-US" sz="1050" u="none" cap="none" strike="noStrike">
                <a:solidFill>
                  <a:srgbClr val="FFFFFF"/>
                </a:solidFill>
                <a:latin typeface="Lato"/>
                <a:ea typeface="Lato"/>
                <a:cs typeface="Lato"/>
                <a:sym typeface="Lato"/>
              </a:rPr>
              <a:t> Day 1</a:t>
            </a:r>
            <a:endParaRPr i="0" sz="1050" u="none" cap="none" strike="noStrike">
              <a:solidFill>
                <a:srgbClr val="FFFFFF"/>
              </a:solidFill>
              <a:latin typeface="Lato"/>
              <a:ea typeface="Lato"/>
              <a:cs typeface="Lato"/>
              <a:sym typeface="Lato"/>
            </a:endParaRPr>
          </a:p>
        </p:txBody>
      </p:sp>
      <p:cxnSp>
        <p:nvCxnSpPr>
          <p:cNvPr id="322" name="Google Shape;322;p13"/>
          <p:cNvCxnSpPr/>
          <p:nvPr/>
        </p:nvCxnSpPr>
        <p:spPr>
          <a:xfrm>
            <a:off x="365760" y="2999232"/>
            <a:ext cx="3931920" cy="0"/>
          </a:xfrm>
          <a:prstGeom prst="straightConnector1">
            <a:avLst/>
          </a:prstGeom>
          <a:noFill/>
          <a:ln cap="flat" cmpd="sng" w="9525">
            <a:solidFill>
              <a:srgbClr val="1E2A4A"/>
            </a:solidFill>
            <a:prstDash val="solid"/>
            <a:round/>
            <a:headEnd len="sm" w="sm" type="none"/>
            <a:tailEnd len="sm" w="sm" type="none"/>
          </a:ln>
        </p:spPr>
      </p:cxnSp>
      <p:sp>
        <p:nvSpPr>
          <p:cNvPr id="323" name="Google Shape;323;p13"/>
          <p:cNvSpPr/>
          <p:nvPr/>
        </p:nvSpPr>
        <p:spPr>
          <a:xfrm>
            <a:off x="365760" y="2523744"/>
            <a:ext cx="201168" cy="201168"/>
          </a:xfrm>
          <a:prstGeom prst="rect">
            <a:avLst/>
          </a:prstGeom>
          <a:noFill/>
          <a:ln cap="flat" cmpd="sng" w="1015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3"/>
          <p:cNvSpPr/>
          <p:nvPr/>
        </p:nvSpPr>
        <p:spPr>
          <a:xfrm>
            <a:off x="641368" y="2432319"/>
            <a:ext cx="361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Provide full sales team roster: names, regions, and roles </a:t>
            </a:r>
            <a:r>
              <a:rPr lang="en-US" sz="1050">
                <a:solidFill>
                  <a:srgbClr val="FFFFFF"/>
                </a:solidFill>
                <a:latin typeface="Lato"/>
                <a:ea typeface="Lato"/>
                <a:cs typeface="Lato"/>
                <a:sym typeface="Lato"/>
              </a:rPr>
              <a:t>-</a:t>
            </a:r>
            <a:r>
              <a:rPr i="0" lang="en-US" sz="1050" u="none" cap="none" strike="noStrike">
                <a:solidFill>
                  <a:srgbClr val="FFFFFF"/>
                </a:solidFill>
                <a:latin typeface="Lato"/>
                <a:ea typeface="Lato"/>
                <a:cs typeface="Lato"/>
                <a:sym typeface="Lato"/>
              </a:rPr>
              <a:t> Week 1</a:t>
            </a:r>
            <a:endParaRPr i="0" sz="1050" u="none" cap="none" strike="noStrike">
              <a:solidFill>
                <a:srgbClr val="FFFFFF"/>
              </a:solidFill>
              <a:latin typeface="Lato"/>
              <a:ea typeface="Lato"/>
              <a:cs typeface="Lato"/>
              <a:sym typeface="Lato"/>
            </a:endParaRPr>
          </a:p>
        </p:txBody>
      </p:sp>
      <p:cxnSp>
        <p:nvCxnSpPr>
          <p:cNvPr id="325" name="Google Shape;325;p13"/>
          <p:cNvCxnSpPr/>
          <p:nvPr/>
        </p:nvCxnSpPr>
        <p:spPr>
          <a:xfrm>
            <a:off x="365760" y="3547872"/>
            <a:ext cx="3931920" cy="0"/>
          </a:xfrm>
          <a:prstGeom prst="straightConnector1">
            <a:avLst/>
          </a:prstGeom>
          <a:noFill/>
          <a:ln cap="flat" cmpd="sng" w="9525">
            <a:solidFill>
              <a:srgbClr val="1E2A4A"/>
            </a:solidFill>
            <a:prstDash val="solid"/>
            <a:round/>
            <a:headEnd len="sm" w="sm" type="none"/>
            <a:tailEnd len="sm" w="sm" type="none"/>
          </a:ln>
        </p:spPr>
      </p:cxnSp>
      <p:sp>
        <p:nvSpPr>
          <p:cNvPr id="326" name="Google Shape;326;p13"/>
          <p:cNvSpPr/>
          <p:nvPr/>
        </p:nvSpPr>
        <p:spPr>
          <a:xfrm>
            <a:off x="365760" y="3072384"/>
            <a:ext cx="201168" cy="201168"/>
          </a:xfrm>
          <a:prstGeom prst="rect">
            <a:avLst/>
          </a:prstGeom>
          <a:noFill/>
          <a:ln cap="flat" cmpd="sng" w="1015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3"/>
          <p:cNvSpPr/>
          <p:nvPr/>
        </p:nvSpPr>
        <p:spPr>
          <a:xfrm>
            <a:off x="641368" y="2980959"/>
            <a:ext cx="361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Confirm standup day and time </a:t>
            </a:r>
            <a:r>
              <a:rPr lang="en-US" sz="1050">
                <a:solidFill>
                  <a:srgbClr val="FFFFFF"/>
                </a:solidFill>
                <a:latin typeface="Lato"/>
                <a:ea typeface="Lato"/>
                <a:cs typeface="Lato"/>
                <a:sym typeface="Lato"/>
              </a:rPr>
              <a:t>-</a:t>
            </a:r>
            <a:r>
              <a:rPr i="0" lang="en-US" sz="1050" u="none" cap="none" strike="noStrike">
                <a:solidFill>
                  <a:srgbClr val="FFFFFF"/>
                </a:solidFill>
                <a:latin typeface="Lato"/>
                <a:ea typeface="Lato"/>
                <a:cs typeface="Lato"/>
                <a:sym typeface="Lato"/>
              </a:rPr>
              <a:t> today</a:t>
            </a:r>
            <a:endParaRPr i="0" sz="1050" u="none" cap="none" strike="noStrike">
              <a:solidFill>
                <a:srgbClr val="FFFFFF"/>
              </a:solidFill>
              <a:latin typeface="Lato"/>
              <a:ea typeface="Lato"/>
              <a:cs typeface="Lato"/>
              <a:sym typeface="Lato"/>
            </a:endParaRPr>
          </a:p>
        </p:txBody>
      </p:sp>
      <p:cxnSp>
        <p:nvCxnSpPr>
          <p:cNvPr id="328" name="Google Shape;328;p13"/>
          <p:cNvCxnSpPr/>
          <p:nvPr/>
        </p:nvCxnSpPr>
        <p:spPr>
          <a:xfrm>
            <a:off x="365760" y="4096512"/>
            <a:ext cx="3931920" cy="0"/>
          </a:xfrm>
          <a:prstGeom prst="straightConnector1">
            <a:avLst/>
          </a:prstGeom>
          <a:noFill/>
          <a:ln cap="flat" cmpd="sng" w="9525">
            <a:solidFill>
              <a:srgbClr val="1E2A4A"/>
            </a:solidFill>
            <a:prstDash val="solid"/>
            <a:round/>
            <a:headEnd len="sm" w="sm" type="none"/>
            <a:tailEnd len="sm" w="sm" type="none"/>
          </a:ln>
        </p:spPr>
      </p:cxnSp>
      <p:sp>
        <p:nvSpPr>
          <p:cNvPr id="329" name="Google Shape;329;p13"/>
          <p:cNvSpPr/>
          <p:nvPr/>
        </p:nvSpPr>
        <p:spPr>
          <a:xfrm>
            <a:off x="365760" y="3621024"/>
            <a:ext cx="201168" cy="201168"/>
          </a:xfrm>
          <a:prstGeom prst="rect">
            <a:avLst/>
          </a:prstGeom>
          <a:noFill/>
          <a:ln cap="flat" cmpd="sng" w="1015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3"/>
          <p:cNvSpPr/>
          <p:nvPr/>
        </p:nvSpPr>
        <p:spPr>
          <a:xfrm>
            <a:off x="641368" y="3529599"/>
            <a:ext cx="361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Confirm communication channel preference (Teams or Slack) — today</a:t>
            </a:r>
            <a:endParaRPr i="0" sz="1050" u="none" cap="none" strike="noStrike">
              <a:solidFill>
                <a:srgbClr val="FFFFFF"/>
              </a:solidFill>
              <a:latin typeface="Lato"/>
              <a:ea typeface="Lato"/>
              <a:cs typeface="Lato"/>
              <a:sym typeface="Lato"/>
            </a:endParaRPr>
          </a:p>
        </p:txBody>
      </p:sp>
      <p:sp>
        <p:nvSpPr>
          <p:cNvPr id="331" name="Google Shape;331;p13"/>
          <p:cNvSpPr/>
          <p:nvPr/>
        </p:nvSpPr>
        <p:spPr>
          <a:xfrm>
            <a:off x="4663440" y="1005840"/>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Lato"/>
                <a:ea typeface="Lato"/>
                <a:cs typeface="Lato"/>
                <a:sym typeface="Lato"/>
              </a:rPr>
              <a:t>From Bound</a:t>
            </a:r>
            <a:endParaRPr i="0" sz="1300" u="none" cap="none" strike="noStrike">
              <a:solidFill>
                <a:srgbClr val="FFFFFF"/>
              </a:solidFill>
              <a:latin typeface="Lato"/>
              <a:ea typeface="Lato"/>
              <a:cs typeface="Lato"/>
              <a:sym typeface="Lato"/>
            </a:endParaRPr>
          </a:p>
        </p:txBody>
      </p:sp>
      <p:cxnSp>
        <p:nvCxnSpPr>
          <p:cNvPr id="332" name="Google Shape;332;p13"/>
          <p:cNvCxnSpPr/>
          <p:nvPr/>
        </p:nvCxnSpPr>
        <p:spPr>
          <a:xfrm>
            <a:off x="4663440" y="1901952"/>
            <a:ext cx="3931920" cy="0"/>
          </a:xfrm>
          <a:prstGeom prst="straightConnector1">
            <a:avLst/>
          </a:prstGeom>
          <a:noFill/>
          <a:ln cap="flat" cmpd="sng" w="9525">
            <a:solidFill>
              <a:srgbClr val="1E2A4A"/>
            </a:solidFill>
            <a:prstDash val="solid"/>
            <a:round/>
            <a:headEnd len="sm" w="sm" type="none"/>
            <a:tailEnd len="sm" w="sm" type="none"/>
          </a:ln>
        </p:spPr>
      </p:cxnSp>
      <p:sp>
        <p:nvSpPr>
          <p:cNvPr id="333" name="Google Shape;333;p13"/>
          <p:cNvSpPr/>
          <p:nvPr/>
        </p:nvSpPr>
        <p:spPr>
          <a:xfrm>
            <a:off x="4663440" y="1426464"/>
            <a:ext cx="201168" cy="201168"/>
          </a:xfrm>
          <a:prstGeom prst="rect">
            <a:avLst/>
          </a:prstGeom>
          <a:noFill/>
          <a:ln cap="flat" cmpd="sng" w="1015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a:off x="4947148" y="1335014"/>
            <a:ext cx="361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Send this deck and kickoff follow-up email</a:t>
            </a:r>
            <a:endParaRPr i="0" sz="1050" u="none" cap="none" strike="noStrike">
              <a:solidFill>
                <a:srgbClr val="FFFFFF"/>
              </a:solidFill>
              <a:latin typeface="Lato"/>
              <a:ea typeface="Lato"/>
              <a:cs typeface="Lato"/>
              <a:sym typeface="Lato"/>
            </a:endParaRPr>
          </a:p>
        </p:txBody>
      </p:sp>
      <p:cxnSp>
        <p:nvCxnSpPr>
          <p:cNvPr id="335" name="Google Shape;335;p13"/>
          <p:cNvCxnSpPr/>
          <p:nvPr/>
        </p:nvCxnSpPr>
        <p:spPr>
          <a:xfrm>
            <a:off x="4663440" y="2450592"/>
            <a:ext cx="3931920" cy="0"/>
          </a:xfrm>
          <a:prstGeom prst="straightConnector1">
            <a:avLst/>
          </a:prstGeom>
          <a:noFill/>
          <a:ln cap="flat" cmpd="sng" w="9525">
            <a:solidFill>
              <a:srgbClr val="1E2A4A"/>
            </a:solidFill>
            <a:prstDash val="solid"/>
            <a:round/>
            <a:headEnd len="sm" w="sm" type="none"/>
            <a:tailEnd len="sm" w="sm" type="none"/>
          </a:ln>
        </p:spPr>
      </p:cxnSp>
      <p:sp>
        <p:nvSpPr>
          <p:cNvPr id="336" name="Google Shape;336;p13"/>
          <p:cNvSpPr/>
          <p:nvPr/>
        </p:nvSpPr>
        <p:spPr>
          <a:xfrm>
            <a:off x="4663440" y="1975104"/>
            <a:ext cx="201168" cy="201168"/>
          </a:xfrm>
          <a:prstGeom prst="rect">
            <a:avLst/>
          </a:prstGeom>
          <a:noFill/>
          <a:ln cap="flat" cmpd="sng" w="1015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4947148" y="1883654"/>
            <a:ext cx="361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Share HubSpot Private App token instructions</a:t>
            </a:r>
            <a:endParaRPr i="0" sz="1050" u="none" cap="none" strike="noStrike">
              <a:solidFill>
                <a:srgbClr val="FFFFFF"/>
              </a:solidFill>
              <a:latin typeface="Lato"/>
              <a:ea typeface="Lato"/>
              <a:cs typeface="Lato"/>
              <a:sym typeface="Lato"/>
            </a:endParaRPr>
          </a:p>
        </p:txBody>
      </p:sp>
      <p:cxnSp>
        <p:nvCxnSpPr>
          <p:cNvPr id="338" name="Google Shape;338;p13"/>
          <p:cNvCxnSpPr/>
          <p:nvPr/>
        </p:nvCxnSpPr>
        <p:spPr>
          <a:xfrm>
            <a:off x="4663440" y="2999232"/>
            <a:ext cx="3931920" cy="0"/>
          </a:xfrm>
          <a:prstGeom prst="straightConnector1">
            <a:avLst/>
          </a:prstGeom>
          <a:noFill/>
          <a:ln cap="flat" cmpd="sng" w="9525">
            <a:solidFill>
              <a:srgbClr val="1E2A4A"/>
            </a:solidFill>
            <a:prstDash val="solid"/>
            <a:round/>
            <a:headEnd len="sm" w="sm" type="none"/>
            <a:tailEnd len="sm" w="sm" type="none"/>
          </a:ln>
        </p:spPr>
      </p:cxnSp>
      <p:sp>
        <p:nvSpPr>
          <p:cNvPr id="339" name="Google Shape;339;p13"/>
          <p:cNvSpPr/>
          <p:nvPr/>
        </p:nvSpPr>
        <p:spPr>
          <a:xfrm>
            <a:off x="4663440" y="2523744"/>
            <a:ext cx="201168" cy="201168"/>
          </a:xfrm>
          <a:prstGeom prst="rect">
            <a:avLst/>
          </a:prstGeom>
          <a:noFill/>
          <a:ln cap="flat" cmpd="sng" w="1015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3"/>
          <p:cNvSpPr/>
          <p:nvPr/>
        </p:nvSpPr>
        <p:spPr>
          <a:xfrm>
            <a:off x="4947148" y="2432294"/>
            <a:ext cx="361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Set up the shared communication channel</a:t>
            </a:r>
            <a:endParaRPr i="0" sz="1050" u="none" cap="none" strike="noStrike">
              <a:solidFill>
                <a:srgbClr val="FFFFFF"/>
              </a:solidFill>
              <a:latin typeface="Lato"/>
              <a:ea typeface="Lato"/>
              <a:cs typeface="Lato"/>
              <a:sym typeface="Lato"/>
            </a:endParaRPr>
          </a:p>
        </p:txBody>
      </p:sp>
      <p:cxnSp>
        <p:nvCxnSpPr>
          <p:cNvPr id="341" name="Google Shape;341;p13"/>
          <p:cNvCxnSpPr/>
          <p:nvPr/>
        </p:nvCxnSpPr>
        <p:spPr>
          <a:xfrm>
            <a:off x="4663440" y="3547872"/>
            <a:ext cx="3931920" cy="0"/>
          </a:xfrm>
          <a:prstGeom prst="straightConnector1">
            <a:avLst/>
          </a:prstGeom>
          <a:noFill/>
          <a:ln cap="flat" cmpd="sng" w="9525">
            <a:solidFill>
              <a:srgbClr val="1E2A4A"/>
            </a:solidFill>
            <a:prstDash val="solid"/>
            <a:round/>
            <a:headEnd len="sm" w="sm" type="none"/>
            <a:tailEnd len="sm" w="sm" type="none"/>
          </a:ln>
        </p:spPr>
      </p:cxnSp>
      <p:sp>
        <p:nvSpPr>
          <p:cNvPr id="342" name="Google Shape;342;p13"/>
          <p:cNvSpPr/>
          <p:nvPr/>
        </p:nvSpPr>
        <p:spPr>
          <a:xfrm>
            <a:off x="4663440" y="3072384"/>
            <a:ext cx="201168" cy="201168"/>
          </a:xfrm>
          <a:prstGeom prst="rect">
            <a:avLst/>
          </a:prstGeom>
          <a:noFill/>
          <a:ln cap="flat" cmpd="sng" w="1015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4947148" y="2980934"/>
            <a:ext cx="361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Calendar and confirm bi-weekly standup calls</a:t>
            </a:r>
            <a:endParaRPr i="0" sz="1050" u="none" cap="none" strike="noStrike">
              <a:solidFill>
                <a:srgbClr val="FFFFFF"/>
              </a:solidFill>
              <a:latin typeface="Lato"/>
              <a:ea typeface="Lato"/>
              <a:cs typeface="Lato"/>
              <a:sym typeface="Lato"/>
            </a:endParaRPr>
          </a:p>
        </p:txBody>
      </p:sp>
      <p:cxnSp>
        <p:nvCxnSpPr>
          <p:cNvPr id="344" name="Google Shape;344;p13"/>
          <p:cNvCxnSpPr/>
          <p:nvPr/>
        </p:nvCxnSpPr>
        <p:spPr>
          <a:xfrm>
            <a:off x="4663440" y="4096512"/>
            <a:ext cx="3931920" cy="0"/>
          </a:xfrm>
          <a:prstGeom prst="straightConnector1">
            <a:avLst/>
          </a:prstGeom>
          <a:noFill/>
          <a:ln cap="flat" cmpd="sng" w="9525">
            <a:solidFill>
              <a:srgbClr val="1E2A4A"/>
            </a:solidFill>
            <a:prstDash val="solid"/>
            <a:round/>
            <a:headEnd len="sm" w="sm" type="none"/>
            <a:tailEnd len="sm" w="sm" type="none"/>
          </a:ln>
        </p:spPr>
      </p:cxnSp>
      <p:sp>
        <p:nvSpPr>
          <p:cNvPr id="345" name="Google Shape;345;p13"/>
          <p:cNvSpPr/>
          <p:nvPr/>
        </p:nvSpPr>
        <p:spPr>
          <a:xfrm>
            <a:off x="4663440" y="3621024"/>
            <a:ext cx="201168" cy="201168"/>
          </a:xfrm>
          <a:prstGeom prst="rect">
            <a:avLst/>
          </a:prstGeom>
          <a:noFill/>
          <a:ln cap="flat" cmpd="sng" w="1015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4947148" y="3529574"/>
            <a:ext cx="361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CDE0"/>
              </a:buClr>
              <a:buSzPts val="1050"/>
              <a:buFont typeface="Calibri"/>
              <a:buNone/>
            </a:pPr>
            <a:r>
              <a:rPr i="0" lang="en-US" sz="1050" u="none" cap="none" strike="noStrike">
                <a:solidFill>
                  <a:srgbClr val="FFFFFF"/>
                </a:solidFill>
                <a:latin typeface="Lato"/>
                <a:ea typeface="Lato"/>
                <a:cs typeface="Lato"/>
                <a:sym typeface="Lato"/>
              </a:rPr>
              <a:t>Deliver </a:t>
            </a:r>
            <a:r>
              <a:rPr lang="en-US" sz="1050">
                <a:solidFill>
                  <a:srgbClr val="FFFFFF"/>
                </a:solidFill>
                <a:latin typeface="Lato"/>
                <a:ea typeface="Lato"/>
                <a:cs typeface="Lato"/>
                <a:sym typeface="Lato"/>
              </a:rPr>
              <a:t>Audit findings within the first week</a:t>
            </a:r>
            <a:endParaRPr i="0" sz="1050" u="none" cap="none" strike="noStrike">
              <a:solidFill>
                <a:srgbClr val="FFFFFF"/>
              </a:solidFill>
              <a:latin typeface="Lato"/>
              <a:ea typeface="Lato"/>
              <a:cs typeface="Lato"/>
              <a:sym typeface="Lato"/>
            </a:endParaRPr>
          </a:p>
        </p:txBody>
      </p:sp>
      <p:sp>
        <p:nvSpPr>
          <p:cNvPr id="347" name="Google Shape;347;p13"/>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348" name="Google Shape;348;p13"/>
          <p:cNvCxnSpPr>
            <a:endCxn id="347"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349" name="Google Shape;349;p13"/>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628"/>
        </a:solidFill>
      </p:bgPr>
    </p:bg>
    <p:spTree>
      <p:nvGrpSpPr>
        <p:cNvPr id="354" name="Shape 354"/>
        <p:cNvGrpSpPr/>
        <p:nvPr/>
      </p:nvGrpSpPr>
      <p:grpSpPr>
        <a:xfrm>
          <a:off x="0" y="0"/>
          <a:ext cx="0" cy="0"/>
          <a:chOff x="0" y="0"/>
          <a:chExt cx="0" cy="0"/>
        </a:xfrm>
      </p:grpSpPr>
      <p:sp>
        <p:nvSpPr>
          <p:cNvPr id="355" name="Google Shape;355;p14"/>
          <p:cNvSpPr/>
          <p:nvPr/>
        </p:nvSpPr>
        <p:spPr>
          <a:xfrm>
            <a:off x="1828800" y="548640"/>
            <a:ext cx="5486400" cy="4114800"/>
          </a:xfrm>
          <a:prstGeom prst="ellipse">
            <a:avLst/>
          </a:prstGeom>
          <a:solidFill>
            <a:srgbClr val="192040"/>
          </a:solidFill>
          <a:ln cap="flat" cmpd="sng" w="12700">
            <a:solidFill>
              <a:srgbClr val="19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4"/>
          <p:cNvSpPr/>
          <p:nvPr/>
        </p:nvSpPr>
        <p:spPr>
          <a:xfrm>
            <a:off x="3840480" y="960120"/>
            <a:ext cx="14630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Lato"/>
                <a:ea typeface="Lato"/>
                <a:cs typeface="Lato"/>
                <a:sym typeface="Lato"/>
              </a:rPr>
              <a:t>bound</a:t>
            </a:r>
            <a:endParaRPr i="0" sz="2000" u="none" cap="none" strike="noStrike">
              <a:solidFill>
                <a:srgbClr val="FFFFFF"/>
              </a:solidFill>
              <a:latin typeface="Lato"/>
              <a:ea typeface="Lato"/>
              <a:cs typeface="Lato"/>
              <a:sym typeface="Lato"/>
            </a:endParaRPr>
          </a:p>
        </p:txBody>
      </p:sp>
      <p:sp>
        <p:nvSpPr>
          <p:cNvPr id="357" name="Google Shape;357;p14"/>
          <p:cNvSpPr/>
          <p:nvPr/>
        </p:nvSpPr>
        <p:spPr>
          <a:xfrm>
            <a:off x="1097280" y="1691640"/>
            <a:ext cx="694944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1" i="1" lang="en-US" sz="2400" u="none" cap="none" strike="noStrike">
                <a:solidFill>
                  <a:srgbClr val="FFFFFF"/>
                </a:solidFill>
                <a:latin typeface="Lato"/>
                <a:ea typeface="Lato"/>
                <a:cs typeface="Lato"/>
                <a:sym typeface="Lato"/>
              </a:rPr>
              <a:t>"The first win is making sure not a</a:t>
            </a:r>
            <a:endParaRPr b="1" i="1" sz="2400">
              <a:solidFill>
                <a:srgbClr val="FFFFFF"/>
              </a:solidFill>
              <a:latin typeface="Lato"/>
              <a:ea typeface="Lato"/>
              <a:cs typeface="Lato"/>
              <a:sym typeface="Lato"/>
            </a:endParaRPr>
          </a:p>
          <a:p>
            <a:pPr indent="0" lvl="0" marL="0" marR="0" rtl="0" algn="ctr">
              <a:spcBef>
                <a:spcPts val="0"/>
              </a:spcBef>
              <a:spcAft>
                <a:spcPts val="0"/>
              </a:spcAft>
              <a:buClr>
                <a:srgbClr val="FFFFFF"/>
              </a:buClr>
              <a:buSzPts val="2400"/>
              <a:buFont typeface="Calibri"/>
              <a:buNone/>
            </a:pPr>
            <a:r>
              <a:rPr b="1" i="1" lang="en-US" sz="2400" u="none" cap="none" strike="noStrike">
                <a:solidFill>
                  <a:srgbClr val="FFFFFF"/>
                </a:solidFill>
                <a:latin typeface="Lato"/>
                <a:ea typeface="Lato"/>
                <a:cs typeface="Lato"/>
                <a:sym typeface="Lato"/>
              </a:rPr>
              <a:t>single deal is invisible."</a:t>
            </a:r>
            <a:endParaRPr i="0" sz="2400" u="none" cap="none" strike="noStrike">
              <a:solidFill>
                <a:srgbClr val="FFFFFF"/>
              </a:solidFill>
              <a:latin typeface="Lato"/>
              <a:ea typeface="Lato"/>
              <a:cs typeface="Lato"/>
              <a:sym typeface="Lato"/>
            </a:endParaRPr>
          </a:p>
        </p:txBody>
      </p:sp>
      <p:sp>
        <p:nvSpPr>
          <p:cNvPr id="358" name="Google Shape;358;p14"/>
          <p:cNvSpPr/>
          <p:nvPr/>
        </p:nvSpPr>
        <p:spPr>
          <a:xfrm>
            <a:off x="1645920" y="2926080"/>
            <a:ext cx="5852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4CDE0"/>
              </a:buClr>
              <a:buSzPts val="1200"/>
              <a:buFont typeface="Calibri"/>
              <a:buNone/>
            </a:pPr>
            <a:r>
              <a:rPr i="0" lang="en-US" sz="1200" u="none" cap="none" strike="noStrike">
                <a:solidFill>
                  <a:srgbClr val="FFFFFF"/>
                </a:solidFill>
                <a:latin typeface="Lato"/>
                <a:ea typeface="Lato"/>
                <a:cs typeface="Lato"/>
                <a:sym typeface="Lato"/>
              </a:rPr>
              <a:t>We start with the foundations </a:t>
            </a:r>
            <a:r>
              <a:rPr lang="en-US" sz="1200">
                <a:solidFill>
                  <a:srgbClr val="FFFFFF"/>
                </a:solidFill>
                <a:latin typeface="Lato"/>
                <a:ea typeface="Lato"/>
                <a:cs typeface="Lato"/>
                <a:sym typeface="Lato"/>
              </a:rPr>
              <a:t>-</a:t>
            </a:r>
            <a:r>
              <a:rPr i="0" lang="en-US" sz="1200" u="none" cap="none" strike="noStrike">
                <a:solidFill>
                  <a:srgbClr val="FFFFFF"/>
                </a:solidFill>
                <a:latin typeface="Lato"/>
                <a:ea typeface="Lato"/>
                <a:cs typeface="Lato"/>
                <a:sym typeface="Lato"/>
              </a:rPr>
              <a:t> clean data, a real pipeline,</a:t>
            </a:r>
            <a:endParaRPr sz="1200">
              <a:solidFill>
                <a:srgbClr val="FFFFFF"/>
              </a:solidFill>
              <a:latin typeface="Lato"/>
              <a:ea typeface="Lato"/>
              <a:cs typeface="Lato"/>
              <a:sym typeface="Lato"/>
            </a:endParaRPr>
          </a:p>
          <a:p>
            <a:pPr indent="0" lvl="0" marL="0" marR="0" rtl="0" algn="ctr">
              <a:spcBef>
                <a:spcPts val="0"/>
              </a:spcBef>
              <a:spcAft>
                <a:spcPts val="0"/>
              </a:spcAft>
              <a:buClr>
                <a:srgbClr val="C4CDE0"/>
              </a:buClr>
              <a:buSzPts val="1200"/>
              <a:buFont typeface="Calibri"/>
              <a:buNone/>
            </a:pPr>
            <a:r>
              <a:rPr i="0" lang="en-US" sz="1200" u="none" cap="none" strike="noStrike">
                <a:solidFill>
                  <a:srgbClr val="FFFFFF"/>
                </a:solidFill>
                <a:latin typeface="Lato"/>
                <a:ea typeface="Lato"/>
                <a:cs typeface="Lato"/>
                <a:sym typeface="Lato"/>
              </a:rPr>
              <a:t>a team that trusts the system.</a:t>
            </a:r>
            <a:endParaRPr sz="1200">
              <a:solidFill>
                <a:srgbClr val="FFFFFF"/>
              </a:solidFill>
              <a:latin typeface="Lato"/>
              <a:ea typeface="Lato"/>
              <a:cs typeface="Lato"/>
              <a:sym typeface="Lato"/>
            </a:endParaRPr>
          </a:p>
          <a:p>
            <a:pPr indent="0" lvl="0" marL="0" marR="0" rtl="0" algn="ctr">
              <a:spcBef>
                <a:spcPts val="0"/>
              </a:spcBef>
              <a:spcAft>
                <a:spcPts val="0"/>
              </a:spcAft>
              <a:buClr>
                <a:srgbClr val="C4CDE0"/>
              </a:buClr>
              <a:buSzPts val="1200"/>
              <a:buFont typeface="Calibri"/>
              <a:buNone/>
            </a:pPr>
            <a:r>
              <a:t/>
            </a:r>
            <a:endParaRPr sz="1200">
              <a:solidFill>
                <a:srgbClr val="FFFFFF"/>
              </a:solidFill>
              <a:latin typeface="Lato"/>
              <a:ea typeface="Lato"/>
              <a:cs typeface="Lato"/>
              <a:sym typeface="Lato"/>
            </a:endParaRPr>
          </a:p>
          <a:p>
            <a:pPr indent="0" lvl="0" marL="0" marR="0" rtl="0" algn="ctr">
              <a:spcBef>
                <a:spcPts val="0"/>
              </a:spcBef>
              <a:spcAft>
                <a:spcPts val="0"/>
              </a:spcAft>
              <a:buClr>
                <a:srgbClr val="C4CDE0"/>
              </a:buClr>
              <a:buSzPts val="1200"/>
              <a:buFont typeface="Calibri"/>
              <a:buNone/>
            </a:pPr>
            <a:r>
              <a:rPr i="0" lang="en-US" sz="1200" u="none" cap="none" strike="noStrike">
                <a:solidFill>
                  <a:srgbClr val="FFFFFF"/>
                </a:solidFill>
                <a:latin typeface="Lato"/>
                <a:ea typeface="Lato"/>
                <a:cs typeface="Lato"/>
                <a:sym typeface="Lato"/>
              </a:rPr>
              <a:t>Everything else builds from there.</a:t>
            </a:r>
            <a:endParaRPr i="0" sz="1200" u="none" cap="none" strike="noStrike">
              <a:solidFill>
                <a:srgbClr val="FFFFFF"/>
              </a:solidFill>
              <a:latin typeface="Lato"/>
              <a:ea typeface="Lato"/>
              <a:cs typeface="Lato"/>
              <a:sym typeface="Lato"/>
            </a:endParaRPr>
          </a:p>
        </p:txBody>
      </p:sp>
      <p:sp>
        <p:nvSpPr>
          <p:cNvPr id="359" name="Google Shape;359;p14"/>
          <p:cNvSpPr txBox="1"/>
          <p:nvPr/>
        </p:nvSpPr>
        <p:spPr>
          <a:xfrm>
            <a:off x="557825" y="4831508"/>
            <a:ext cx="1613700" cy="36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100" u="none" cap="none" strike="noStrike">
                <a:solidFill>
                  <a:srgbClr val="FFFFFF"/>
                </a:solidFill>
                <a:latin typeface="Poppins"/>
                <a:ea typeface="Poppins"/>
                <a:cs typeface="Poppins"/>
                <a:sym typeface="Poppins"/>
              </a:rPr>
              <a:t> boundm.com</a:t>
            </a:r>
            <a:endParaRPr b="0" i="0" sz="1100" u="none" cap="none" strike="noStrike">
              <a:solidFill>
                <a:srgbClr val="FFFFFF"/>
              </a:solidFill>
              <a:latin typeface="Poppins"/>
              <a:ea typeface="Poppins"/>
              <a:cs typeface="Poppins"/>
              <a:sym typeface="Poppins"/>
            </a:endParaRPr>
          </a:p>
        </p:txBody>
      </p:sp>
      <p:cxnSp>
        <p:nvCxnSpPr>
          <p:cNvPr id="360" name="Google Shape;360;p14"/>
          <p:cNvCxnSpPr>
            <a:endCxn id="359" idx="1"/>
          </p:cNvCxnSpPr>
          <p:nvPr/>
        </p:nvCxnSpPr>
        <p:spPr>
          <a:xfrm>
            <a:off x="-175" y="5014208"/>
            <a:ext cx="558000" cy="0"/>
          </a:xfrm>
          <a:prstGeom prst="straightConnector1">
            <a:avLst/>
          </a:prstGeom>
          <a:noFill/>
          <a:ln cap="flat" cmpd="sng" w="9525">
            <a:solidFill>
              <a:srgbClr val="5A60FF"/>
            </a:solidFill>
            <a:prstDash val="solid"/>
            <a:round/>
            <a:headEnd len="sm" w="sm" type="none"/>
            <a:tailEnd len="sm" w="sm" type="none"/>
          </a:ln>
        </p:spPr>
      </p:cxnSp>
      <p:cxnSp>
        <p:nvCxnSpPr>
          <p:cNvPr id="361" name="Google Shape;361;p14"/>
          <p:cNvCxnSpPr/>
          <p:nvPr/>
        </p:nvCxnSpPr>
        <p:spPr>
          <a:xfrm>
            <a:off x="1732875" y="5029983"/>
            <a:ext cx="7410900" cy="0"/>
          </a:xfrm>
          <a:prstGeom prst="straightConnector1">
            <a:avLst/>
          </a:prstGeom>
          <a:noFill/>
          <a:ln cap="flat" cmpd="sng" w="9525">
            <a:solidFill>
              <a:srgbClr val="5A60F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